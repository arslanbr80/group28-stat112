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84" r:id="rId2"/>
  </p:sldMasterIdLst>
  <p:sldIdLst>
    <p:sldId id="256" r:id="rId3"/>
    <p:sldId id="257" r:id="rId4"/>
    <p:sldId id="258" r:id="rId5"/>
    <p:sldId id="259" r:id="rId6"/>
    <p:sldId id="260" r:id="rId7"/>
    <p:sldId id="262" r:id="rId8"/>
    <p:sldId id="261" r:id="rId9"/>
    <p:sldId id="263" r:id="rId10"/>
    <p:sldId id="264" r:id="rId11"/>
    <p:sldId id="266" r:id="rId12"/>
  </p:sldIdLst>
  <p:sldSz cx="12192000" cy="6858000"/>
  <p:notesSz cx="6858000" cy="9144000"/>
  <p:defaultTextStyle>
    <a:defPPr>
      <a:defRPr lang="en-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0"/>
    <p:restoredTop sz="94630"/>
  </p:normalViewPr>
  <p:slideViewPr>
    <p:cSldViewPr snapToGrid="0">
      <p:cViewPr varScale="1">
        <p:scale>
          <a:sx n="118" d="100"/>
          <a:sy n="118" d="100"/>
        </p:scale>
        <p:origin x="48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0C709-8BC9-909B-16B4-3343ED746D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R"/>
          </a:p>
        </p:txBody>
      </p:sp>
      <p:sp>
        <p:nvSpPr>
          <p:cNvPr id="3" name="Subtitle 2">
            <a:extLst>
              <a:ext uri="{FF2B5EF4-FFF2-40B4-BE49-F238E27FC236}">
                <a16:creationId xmlns:a16="http://schemas.microsoft.com/office/drawing/2014/main" id="{52F7D161-F341-5957-4CC6-C806C51D6D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R"/>
          </a:p>
        </p:txBody>
      </p:sp>
      <p:sp>
        <p:nvSpPr>
          <p:cNvPr id="4" name="Date Placeholder 3">
            <a:extLst>
              <a:ext uri="{FF2B5EF4-FFF2-40B4-BE49-F238E27FC236}">
                <a16:creationId xmlns:a16="http://schemas.microsoft.com/office/drawing/2014/main" id="{71A70AC6-A6AA-E873-CE59-AB39E288BE67}"/>
              </a:ext>
            </a:extLst>
          </p:cNvPr>
          <p:cNvSpPr>
            <a:spLocks noGrp="1"/>
          </p:cNvSpPr>
          <p:nvPr>
            <p:ph type="dt" sz="half" idx="10"/>
          </p:nvPr>
        </p:nvSpPr>
        <p:spPr/>
        <p:txBody>
          <a:bodyPr/>
          <a:lstStyle/>
          <a:p>
            <a:fld id="{675035C9-4822-EC4F-8E2A-1820FD05D325}" type="datetimeFigureOut">
              <a:rPr lang="en-TR" smtClean="0"/>
              <a:t>30.11.2025</a:t>
            </a:fld>
            <a:endParaRPr lang="en-TR"/>
          </a:p>
        </p:txBody>
      </p:sp>
      <p:sp>
        <p:nvSpPr>
          <p:cNvPr id="5" name="Footer Placeholder 4">
            <a:extLst>
              <a:ext uri="{FF2B5EF4-FFF2-40B4-BE49-F238E27FC236}">
                <a16:creationId xmlns:a16="http://schemas.microsoft.com/office/drawing/2014/main" id="{F8FA0B83-CEFC-94BB-B41C-23CCB375D204}"/>
              </a:ext>
            </a:extLst>
          </p:cNvPr>
          <p:cNvSpPr>
            <a:spLocks noGrp="1"/>
          </p:cNvSpPr>
          <p:nvPr>
            <p:ph type="ftr" sz="quarter" idx="11"/>
          </p:nvPr>
        </p:nvSpPr>
        <p:spPr/>
        <p:txBody>
          <a:bodyPr/>
          <a:lstStyle/>
          <a:p>
            <a:endParaRPr lang="en-TR"/>
          </a:p>
        </p:txBody>
      </p:sp>
      <p:sp>
        <p:nvSpPr>
          <p:cNvPr id="6" name="Slide Number Placeholder 5">
            <a:extLst>
              <a:ext uri="{FF2B5EF4-FFF2-40B4-BE49-F238E27FC236}">
                <a16:creationId xmlns:a16="http://schemas.microsoft.com/office/drawing/2014/main" id="{3EA28AFD-E7CC-A40E-E534-0B990C86BCB6}"/>
              </a:ext>
            </a:extLst>
          </p:cNvPr>
          <p:cNvSpPr>
            <a:spLocks noGrp="1"/>
          </p:cNvSpPr>
          <p:nvPr>
            <p:ph type="sldNum" sz="quarter" idx="12"/>
          </p:nvPr>
        </p:nvSpPr>
        <p:spPr/>
        <p:txBody>
          <a:bodyPr/>
          <a:lstStyle/>
          <a:p>
            <a:fld id="{E816EEDA-A8E1-BD4D-8600-6DAE0032B6FD}" type="slidenum">
              <a:rPr lang="en-TR" smtClean="0"/>
              <a:t>‹#›</a:t>
            </a:fld>
            <a:endParaRPr lang="en-TR"/>
          </a:p>
        </p:txBody>
      </p:sp>
    </p:spTree>
    <p:extLst>
      <p:ext uri="{BB962C8B-B14F-4D97-AF65-F5344CB8AC3E}">
        <p14:creationId xmlns:p14="http://schemas.microsoft.com/office/powerpoint/2010/main" val="2810634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5724E-3A49-5A28-BB86-99FA4006B876}"/>
              </a:ext>
            </a:extLst>
          </p:cNvPr>
          <p:cNvSpPr>
            <a:spLocks noGrp="1"/>
          </p:cNvSpPr>
          <p:nvPr>
            <p:ph type="title"/>
          </p:nvPr>
        </p:nvSpPr>
        <p:spPr/>
        <p:txBody>
          <a:bodyPr/>
          <a:lstStyle/>
          <a:p>
            <a:r>
              <a:rPr lang="en-US"/>
              <a:t>Click to edit Master title style</a:t>
            </a:r>
            <a:endParaRPr lang="en-TR"/>
          </a:p>
        </p:txBody>
      </p:sp>
      <p:sp>
        <p:nvSpPr>
          <p:cNvPr id="3" name="Content Placeholder 2">
            <a:extLst>
              <a:ext uri="{FF2B5EF4-FFF2-40B4-BE49-F238E27FC236}">
                <a16:creationId xmlns:a16="http://schemas.microsoft.com/office/drawing/2014/main" id="{1557C16D-8194-B0F6-B8BB-CD092AC15A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Date Placeholder 3">
            <a:extLst>
              <a:ext uri="{FF2B5EF4-FFF2-40B4-BE49-F238E27FC236}">
                <a16:creationId xmlns:a16="http://schemas.microsoft.com/office/drawing/2014/main" id="{A0FC4C88-090A-C04C-F1BF-D63426099CA0}"/>
              </a:ext>
            </a:extLst>
          </p:cNvPr>
          <p:cNvSpPr>
            <a:spLocks noGrp="1"/>
          </p:cNvSpPr>
          <p:nvPr>
            <p:ph type="dt" sz="half" idx="10"/>
          </p:nvPr>
        </p:nvSpPr>
        <p:spPr/>
        <p:txBody>
          <a:bodyPr/>
          <a:lstStyle/>
          <a:p>
            <a:fld id="{675035C9-4822-EC4F-8E2A-1820FD05D325}" type="datetimeFigureOut">
              <a:rPr lang="en-TR" smtClean="0"/>
              <a:t>30.11.2025</a:t>
            </a:fld>
            <a:endParaRPr lang="en-TR"/>
          </a:p>
        </p:txBody>
      </p:sp>
      <p:sp>
        <p:nvSpPr>
          <p:cNvPr id="5" name="Footer Placeholder 4">
            <a:extLst>
              <a:ext uri="{FF2B5EF4-FFF2-40B4-BE49-F238E27FC236}">
                <a16:creationId xmlns:a16="http://schemas.microsoft.com/office/drawing/2014/main" id="{70A4B73E-7989-BA1A-A8DD-9C6F6169E9CF}"/>
              </a:ext>
            </a:extLst>
          </p:cNvPr>
          <p:cNvSpPr>
            <a:spLocks noGrp="1"/>
          </p:cNvSpPr>
          <p:nvPr>
            <p:ph type="ftr" sz="quarter" idx="11"/>
          </p:nvPr>
        </p:nvSpPr>
        <p:spPr/>
        <p:txBody>
          <a:bodyPr/>
          <a:lstStyle/>
          <a:p>
            <a:endParaRPr lang="en-TR"/>
          </a:p>
        </p:txBody>
      </p:sp>
      <p:sp>
        <p:nvSpPr>
          <p:cNvPr id="6" name="Slide Number Placeholder 5">
            <a:extLst>
              <a:ext uri="{FF2B5EF4-FFF2-40B4-BE49-F238E27FC236}">
                <a16:creationId xmlns:a16="http://schemas.microsoft.com/office/drawing/2014/main" id="{F3A4621C-3266-E814-9930-C717304C3623}"/>
              </a:ext>
            </a:extLst>
          </p:cNvPr>
          <p:cNvSpPr>
            <a:spLocks noGrp="1"/>
          </p:cNvSpPr>
          <p:nvPr>
            <p:ph type="sldNum" sz="quarter" idx="12"/>
          </p:nvPr>
        </p:nvSpPr>
        <p:spPr/>
        <p:txBody>
          <a:bodyPr/>
          <a:lstStyle/>
          <a:p>
            <a:fld id="{E816EEDA-A8E1-BD4D-8600-6DAE0032B6FD}" type="slidenum">
              <a:rPr lang="en-TR" smtClean="0"/>
              <a:t>‹#›</a:t>
            </a:fld>
            <a:endParaRPr lang="en-TR"/>
          </a:p>
        </p:txBody>
      </p:sp>
    </p:spTree>
    <p:extLst>
      <p:ext uri="{BB962C8B-B14F-4D97-AF65-F5344CB8AC3E}">
        <p14:creationId xmlns:p14="http://schemas.microsoft.com/office/powerpoint/2010/main" val="203594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DBA85-2D6D-D585-FBC0-6B0533EAD1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R"/>
          </a:p>
        </p:txBody>
      </p:sp>
      <p:sp>
        <p:nvSpPr>
          <p:cNvPr id="3" name="Text Placeholder 2">
            <a:extLst>
              <a:ext uri="{FF2B5EF4-FFF2-40B4-BE49-F238E27FC236}">
                <a16:creationId xmlns:a16="http://schemas.microsoft.com/office/drawing/2014/main" id="{EDB71041-6A91-D2EE-FD74-5FCA62A7870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BA0A8A-8015-9962-F346-4F19453F800A}"/>
              </a:ext>
            </a:extLst>
          </p:cNvPr>
          <p:cNvSpPr>
            <a:spLocks noGrp="1"/>
          </p:cNvSpPr>
          <p:nvPr>
            <p:ph type="dt" sz="half" idx="10"/>
          </p:nvPr>
        </p:nvSpPr>
        <p:spPr/>
        <p:txBody>
          <a:bodyPr/>
          <a:lstStyle/>
          <a:p>
            <a:fld id="{675035C9-4822-EC4F-8E2A-1820FD05D325}" type="datetimeFigureOut">
              <a:rPr lang="en-TR" smtClean="0"/>
              <a:t>30.11.2025</a:t>
            </a:fld>
            <a:endParaRPr lang="en-TR"/>
          </a:p>
        </p:txBody>
      </p:sp>
      <p:sp>
        <p:nvSpPr>
          <p:cNvPr id="5" name="Footer Placeholder 4">
            <a:extLst>
              <a:ext uri="{FF2B5EF4-FFF2-40B4-BE49-F238E27FC236}">
                <a16:creationId xmlns:a16="http://schemas.microsoft.com/office/drawing/2014/main" id="{F25D7316-E5E3-BC6C-A410-E8B842A0968D}"/>
              </a:ext>
            </a:extLst>
          </p:cNvPr>
          <p:cNvSpPr>
            <a:spLocks noGrp="1"/>
          </p:cNvSpPr>
          <p:nvPr>
            <p:ph type="ftr" sz="quarter" idx="11"/>
          </p:nvPr>
        </p:nvSpPr>
        <p:spPr/>
        <p:txBody>
          <a:bodyPr/>
          <a:lstStyle/>
          <a:p>
            <a:endParaRPr lang="en-TR"/>
          </a:p>
        </p:txBody>
      </p:sp>
      <p:sp>
        <p:nvSpPr>
          <p:cNvPr id="6" name="Slide Number Placeholder 5">
            <a:extLst>
              <a:ext uri="{FF2B5EF4-FFF2-40B4-BE49-F238E27FC236}">
                <a16:creationId xmlns:a16="http://schemas.microsoft.com/office/drawing/2014/main" id="{F19C0E3D-EDA4-030B-DFF7-EDF7F435821B}"/>
              </a:ext>
            </a:extLst>
          </p:cNvPr>
          <p:cNvSpPr>
            <a:spLocks noGrp="1"/>
          </p:cNvSpPr>
          <p:nvPr>
            <p:ph type="sldNum" sz="quarter" idx="12"/>
          </p:nvPr>
        </p:nvSpPr>
        <p:spPr/>
        <p:txBody>
          <a:bodyPr/>
          <a:lstStyle/>
          <a:p>
            <a:fld id="{E816EEDA-A8E1-BD4D-8600-6DAE0032B6FD}" type="slidenum">
              <a:rPr lang="en-TR" smtClean="0"/>
              <a:t>‹#›</a:t>
            </a:fld>
            <a:endParaRPr lang="en-TR"/>
          </a:p>
        </p:txBody>
      </p:sp>
    </p:spTree>
    <p:extLst>
      <p:ext uri="{BB962C8B-B14F-4D97-AF65-F5344CB8AC3E}">
        <p14:creationId xmlns:p14="http://schemas.microsoft.com/office/powerpoint/2010/main" val="137901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E2CD9-5D40-4CA3-3FC3-89A40BA894B1}"/>
              </a:ext>
            </a:extLst>
          </p:cNvPr>
          <p:cNvSpPr>
            <a:spLocks noGrp="1"/>
          </p:cNvSpPr>
          <p:nvPr>
            <p:ph type="title"/>
          </p:nvPr>
        </p:nvSpPr>
        <p:spPr/>
        <p:txBody>
          <a:bodyPr/>
          <a:lstStyle/>
          <a:p>
            <a:r>
              <a:rPr lang="en-US"/>
              <a:t>Click to edit Master title style</a:t>
            </a:r>
            <a:endParaRPr lang="en-TR"/>
          </a:p>
        </p:txBody>
      </p:sp>
      <p:sp>
        <p:nvSpPr>
          <p:cNvPr id="3" name="Content Placeholder 2">
            <a:extLst>
              <a:ext uri="{FF2B5EF4-FFF2-40B4-BE49-F238E27FC236}">
                <a16:creationId xmlns:a16="http://schemas.microsoft.com/office/drawing/2014/main" id="{0A04005A-A282-3805-9F8B-532F43E085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Content Placeholder 3">
            <a:extLst>
              <a:ext uri="{FF2B5EF4-FFF2-40B4-BE49-F238E27FC236}">
                <a16:creationId xmlns:a16="http://schemas.microsoft.com/office/drawing/2014/main" id="{68D7562C-4FFB-2D8D-6EB2-338A3AD6F7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5" name="Date Placeholder 4">
            <a:extLst>
              <a:ext uri="{FF2B5EF4-FFF2-40B4-BE49-F238E27FC236}">
                <a16:creationId xmlns:a16="http://schemas.microsoft.com/office/drawing/2014/main" id="{C851160A-2F65-60C3-97EB-164F373028BF}"/>
              </a:ext>
            </a:extLst>
          </p:cNvPr>
          <p:cNvSpPr>
            <a:spLocks noGrp="1"/>
          </p:cNvSpPr>
          <p:nvPr>
            <p:ph type="dt" sz="half" idx="10"/>
          </p:nvPr>
        </p:nvSpPr>
        <p:spPr/>
        <p:txBody>
          <a:bodyPr/>
          <a:lstStyle/>
          <a:p>
            <a:fld id="{675035C9-4822-EC4F-8E2A-1820FD05D325}" type="datetimeFigureOut">
              <a:rPr lang="en-TR" smtClean="0"/>
              <a:t>30.11.2025</a:t>
            </a:fld>
            <a:endParaRPr lang="en-TR"/>
          </a:p>
        </p:txBody>
      </p:sp>
      <p:sp>
        <p:nvSpPr>
          <p:cNvPr id="6" name="Footer Placeholder 5">
            <a:extLst>
              <a:ext uri="{FF2B5EF4-FFF2-40B4-BE49-F238E27FC236}">
                <a16:creationId xmlns:a16="http://schemas.microsoft.com/office/drawing/2014/main" id="{91DC7D48-4B8B-EB00-F315-63E014AA2C93}"/>
              </a:ext>
            </a:extLst>
          </p:cNvPr>
          <p:cNvSpPr>
            <a:spLocks noGrp="1"/>
          </p:cNvSpPr>
          <p:nvPr>
            <p:ph type="ftr" sz="quarter" idx="11"/>
          </p:nvPr>
        </p:nvSpPr>
        <p:spPr/>
        <p:txBody>
          <a:bodyPr/>
          <a:lstStyle/>
          <a:p>
            <a:endParaRPr lang="en-TR"/>
          </a:p>
        </p:txBody>
      </p:sp>
      <p:sp>
        <p:nvSpPr>
          <p:cNvPr id="7" name="Slide Number Placeholder 6">
            <a:extLst>
              <a:ext uri="{FF2B5EF4-FFF2-40B4-BE49-F238E27FC236}">
                <a16:creationId xmlns:a16="http://schemas.microsoft.com/office/drawing/2014/main" id="{40C6153B-CE31-0A24-FB16-FB30CEB608A5}"/>
              </a:ext>
            </a:extLst>
          </p:cNvPr>
          <p:cNvSpPr>
            <a:spLocks noGrp="1"/>
          </p:cNvSpPr>
          <p:nvPr>
            <p:ph type="sldNum" sz="quarter" idx="12"/>
          </p:nvPr>
        </p:nvSpPr>
        <p:spPr/>
        <p:txBody>
          <a:bodyPr/>
          <a:lstStyle/>
          <a:p>
            <a:fld id="{E816EEDA-A8E1-BD4D-8600-6DAE0032B6FD}" type="slidenum">
              <a:rPr lang="en-TR" smtClean="0"/>
              <a:t>‹#›</a:t>
            </a:fld>
            <a:endParaRPr lang="en-TR"/>
          </a:p>
        </p:txBody>
      </p:sp>
    </p:spTree>
    <p:extLst>
      <p:ext uri="{BB962C8B-B14F-4D97-AF65-F5344CB8AC3E}">
        <p14:creationId xmlns:p14="http://schemas.microsoft.com/office/powerpoint/2010/main" val="1746419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8FDB3-E145-3E47-8622-0B1C4A38C9EE}"/>
              </a:ext>
            </a:extLst>
          </p:cNvPr>
          <p:cNvSpPr>
            <a:spLocks noGrp="1"/>
          </p:cNvSpPr>
          <p:nvPr>
            <p:ph type="title"/>
          </p:nvPr>
        </p:nvSpPr>
        <p:spPr>
          <a:xfrm>
            <a:off x="839788" y="365125"/>
            <a:ext cx="10515600" cy="1325563"/>
          </a:xfrm>
        </p:spPr>
        <p:txBody>
          <a:bodyPr/>
          <a:lstStyle/>
          <a:p>
            <a:r>
              <a:rPr lang="en-US"/>
              <a:t>Click to edit Master title style</a:t>
            </a:r>
            <a:endParaRPr lang="en-TR"/>
          </a:p>
        </p:txBody>
      </p:sp>
      <p:sp>
        <p:nvSpPr>
          <p:cNvPr id="3" name="Text Placeholder 2">
            <a:extLst>
              <a:ext uri="{FF2B5EF4-FFF2-40B4-BE49-F238E27FC236}">
                <a16:creationId xmlns:a16="http://schemas.microsoft.com/office/drawing/2014/main" id="{527FE91D-5440-1381-96F6-2E2E2B63EE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AD8EB7-8660-DF84-9A61-1723EDEF82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5" name="Text Placeholder 4">
            <a:extLst>
              <a:ext uri="{FF2B5EF4-FFF2-40B4-BE49-F238E27FC236}">
                <a16:creationId xmlns:a16="http://schemas.microsoft.com/office/drawing/2014/main" id="{836E547C-9BFB-8404-FA12-583CE23E32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7B6A94-AC8B-008A-C90C-F65B12E686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7" name="Date Placeholder 6">
            <a:extLst>
              <a:ext uri="{FF2B5EF4-FFF2-40B4-BE49-F238E27FC236}">
                <a16:creationId xmlns:a16="http://schemas.microsoft.com/office/drawing/2014/main" id="{6DF88F46-8AF6-1204-691C-58469FD3B133}"/>
              </a:ext>
            </a:extLst>
          </p:cNvPr>
          <p:cNvSpPr>
            <a:spLocks noGrp="1"/>
          </p:cNvSpPr>
          <p:nvPr>
            <p:ph type="dt" sz="half" idx="10"/>
          </p:nvPr>
        </p:nvSpPr>
        <p:spPr/>
        <p:txBody>
          <a:bodyPr/>
          <a:lstStyle/>
          <a:p>
            <a:fld id="{675035C9-4822-EC4F-8E2A-1820FD05D325}" type="datetimeFigureOut">
              <a:rPr lang="en-TR" smtClean="0"/>
              <a:t>30.11.2025</a:t>
            </a:fld>
            <a:endParaRPr lang="en-TR"/>
          </a:p>
        </p:txBody>
      </p:sp>
      <p:sp>
        <p:nvSpPr>
          <p:cNvPr id="8" name="Footer Placeholder 7">
            <a:extLst>
              <a:ext uri="{FF2B5EF4-FFF2-40B4-BE49-F238E27FC236}">
                <a16:creationId xmlns:a16="http://schemas.microsoft.com/office/drawing/2014/main" id="{02DA53C7-B73C-5546-1586-10A73760DD95}"/>
              </a:ext>
            </a:extLst>
          </p:cNvPr>
          <p:cNvSpPr>
            <a:spLocks noGrp="1"/>
          </p:cNvSpPr>
          <p:nvPr>
            <p:ph type="ftr" sz="quarter" idx="11"/>
          </p:nvPr>
        </p:nvSpPr>
        <p:spPr/>
        <p:txBody>
          <a:bodyPr/>
          <a:lstStyle/>
          <a:p>
            <a:endParaRPr lang="en-TR"/>
          </a:p>
        </p:txBody>
      </p:sp>
      <p:sp>
        <p:nvSpPr>
          <p:cNvPr id="9" name="Slide Number Placeholder 8">
            <a:extLst>
              <a:ext uri="{FF2B5EF4-FFF2-40B4-BE49-F238E27FC236}">
                <a16:creationId xmlns:a16="http://schemas.microsoft.com/office/drawing/2014/main" id="{977958C6-9941-8F8F-219F-FD50EA256C0A}"/>
              </a:ext>
            </a:extLst>
          </p:cNvPr>
          <p:cNvSpPr>
            <a:spLocks noGrp="1"/>
          </p:cNvSpPr>
          <p:nvPr>
            <p:ph type="sldNum" sz="quarter" idx="12"/>
          </p:nvPr>
        </p:nvSpPr>
        <p:spPr/>
        <p:txBody>
          <a:bodyPr/>
          <a:lstStyle/>
          <a:p>
            <a:fld id="{E816EEDA-A8E1-BD4D-8600-6DAE0032B6FD}" type="slidenum">
              <a:rPr lang="en-TR" smtClean="0"/>
              <a:t>‹#›</a:t>
            </a:fld>
            <a:endParaRPr lang="en-TR"/>
          </a:p>
        </p:txBody>
      </p:sp>
    </p:spTree>
    <p:extLst>
      <p:ext uri="{BB962C8B-B14F-4D97-AF65-F5344CB8AC3E}">
        <p14:creationId xmlns:p14="http://schemas.microsoft.com/office/powerpoint/2010/main" val="1011298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73265-1740-7746-32D3-B8C1E57B00F6}"/>
              </a:ext>
            </a:extLst>
          </p:cNvPr>
          <p:cNvSpPr>
            <a:spLocks noGrp="1"/>
          </p:cNvSpPr>
          <p:nvPr>
            <p:ph type="title"/>
          </p:nvPr>
        </p:nvSpPr>
        <p:spPr/>
        <p:txBody>
          <a:bodyPr/>
          <a:lstStyle/>
          <a:p>
            <a:r>
              <a:rPr lang="en-US"/>
              <a:t>Click to edit Master title style</a:t>
            </a:r>
            <a:endParaRPr lang="en-TR"/>
          </a:p>
        </p:txBody>
      </p:sp>
      <p:sp>
        <p:nvSpPr>
          <p:cNvPr id="3" name="Date Placeholder 2">
            <a:extLst>
              <a:ext uri="{FF2B5EF4-FFF2-40B4-BE49-F238E27FC236}">
                <a16:creationId xmlns:a16="http://schemas.microsoft.com/office/drawing/2014/main" id="{AA0E34DC-C0A5-D309-0396-A2C888EDD065}"/>
              </a:ext>
            </a:extLst>
          </p:cNvPr>
          <p:cNvSpPr>
            <a:spLocks noGrp="1"/>
          </p:cNvSpPr>
          <p:nvPr>
            <p:ph type="dt" sz="half" idx="10"/>
          </p:nvPr>
        </p:nvSpPr>
        <p:spPr/>
        <p:txBody>
          <a:bodyPr/>
          <a:lstStyle/>
          <a:p>
            <a:fld id="{675035C9-4822-EC4F-8E2A-1820FD05D325}" type="datetimeFigureOut">
              <a:rPr lang="en-TR" smtClean="0"/>
              <a:t>30.11.2025</a:t>
            </a:fld>
            <a:endParaRPr lang="en-TR"/>
          </a:p>
        </p:txBody>
      </p:sp>
      <p:sp>
        <p:nvSpPr>
          <p:cNvPr id="4" name="Footer Placeholder 3">
            <a:extLst>
              <a:ext uri="{FF2B5EF4-FFF2-40B4-BE49-F238E27FC236}">
                <a16:creationId xmlns:a16="http://schemas.microsoft.com/office/drawing/2014/main" id="{0948C623-E134-6667-831D-310660BF528F}"/>
              </a:ext>
            </a:extLst>
          </p:cNvPr>
          <p:cNvSpPr>
            <a:spLocks noGrp="1"/>
          </p:cNvSpPr>
          <p:nvPr>
            <p:ph type="ftr" sz="quarter" idx="11"/>
          </p:nvPr>
        </p:nvSpPr>
        <p:spPr/>
        <p:txBody>
          <a:bodyPr/>
          <a:lstStyle/>
          <a:p>
            <a:endParaRPr lang="en-TR"/>
          </a:p>
        </p:txBody>
      </p:sp>
      <p:sp>
        <p:nvSpPr>
          <p:cNvPr id="5" name="Slide Number Placeholder 4">
            <a:extLst>
              <a:ext uri="{FF2B5EF4-FFF2-40B4-BE49-F238E27FC236}">
                <a16:creationId xmlns:a16="http://schemas.microsoft.com/office/drawing/2014/main" id="{B48D0591-78AE-88E0-72D5-2C19AF698A7C}"/>
              </a:ext>
            </a:extLst>
          </p:cNvPr>
          <p:cNvSpPr>
            <a:spLocks noGrp="1"/>
          </p:cNvSpPr>
          <p:nvPr>
            <p:ph type="sldNum" sz="quarter" idx="12"/>
          </p:nvPr>
        </p:nvSpPr>
        <p:spPr/>
        <p:txBody>
          <a:bodyPr/>
          <a:lstStyle/>
          <a:p>
            <a:fld id="{E816EEDA-A8E1-BD4D-8600-6DAE0032B6FD}" type="slidenum">
              <a:rPr lang="en-TR" smtClean="0"/>
              <a:t>‹#›</a:t>
            </a:fld>
            <a:endParaRPr lang="en-TR"/>
          </a:p>
        </p:txBody>
      </p:sp>
    </p:spTree>
    <p:extLst>
      <p:ext uri="{BB962C8B-B14F-4D97-AF65-F5344CB8AC3E}">
        <p14:creationId xmlns:p14="http://schemas.microsoft.com/office/powerpoint/2010/main" val="2488087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196957-3F27-EFD0-4E1D-1A5AE7391E7D}"/>
              </a:ext>
            </a:extLst>
          </p:cNvPr>
          <p:cNvSpPr>
            <a:spLocks noGrp="1"/>
          </p:cNvSpPr>
          <p:nvPr>
            <p:ph type="dt" sz="half" idx="10"/>
          </p:nvPr>
        </p:nvSpPr>
        <p:spPr/>
        <p:txBody>
          <a:bodyPr/>
          <a:lstStyle/>
          <a:p>
            <a:fld id="{675035C9-4822-EC4F-8E2A-1820FD05D325}" type="datetimeFigureOut">
              <a:rPr lang="en-TR" smtClean="0"/>
              <a:t>30.11.2025</a:t>
            </a:fld>
            <a:endParaRPr lang="en-TR"/>
          </a:p>
        </p:txBody>
      </p:sp>
      <p:sp>
        <p:nvSpPr>
          <p:cNvPr id="3" name="Footer Placeholder 2">
            <a:extLst>
              <a:ext uri="{FF2B5EF4-FFF2-40B4-BE49-F238E27FC236}">
                <a16:creationId xmlns:a16="http://schemas.microsoft.com/office/drawing/2014/main" id="{8EBFC93D-8BE0-6C90-3559-07E4A1C5379A}"/>
              </a:ext>
            </a:extLst>
          </p:cNvPr>
          <p:cNvSpPr>
            <a:spLocks noGrp="1"/>
          </p:cNvSpPr>
          <p:nvPr>
            <p:ph type="ftr" sz="quarter" idx="11"/>
          </p:nvPr>
        </p:nvSpPr>
        <p:spPr/>
        <p:txBody>
          <a:bodyPr/>
          <a:lstStyle/>
          <a:p>
            <a:endParaRPr lang="en-TR"/>
          </a:p>
        </p:txBody>
      </p:sp>
      <p:sp>
        <p:nvSpPr>
          <p:cNvPr id="4" name="Slide Number Placeholder 3">
            <a:extLst>
              <a:ext uri="{FF2B5EF4-FFF2-40B4-BE49-F238E27FC236}">
                <a16:creationId xmlns:a16="http://schemas.microsoft.com/office/drawing/2014/main" id="{C075729D-DBD7-A388-FD79-C413006B9602}"/>
              </a:ext>
            </a:extLst>
          </p:cNvPr>
          <p:cNvSpPr>
            <a:spLocks noGrp="1"/>
          </p:cNvSpPr>
          <p:nvPr>
            <p:ph type="sldNum" sz="quarter" idx="12"/>
          </p:nvPr>
        </p:nvSpPr>
        <p:spPr/>
        <p:txBody>
          <a:bodyPr/>
          <a:lstStyle/>
          <a:p>
            <a:fld id="{E816EEDA-A8E1-BD4D-8600-6DAE0032B6FD}" type="slidenum">
              <a:rPr lang="en-TR" smtClean="0"/>
              <a:t>‹#›</a:t>
            </a:fld>
            <a:endParaRPr lang="en-TR"/>
          </a:p>
        </p:txBody>
      </p:sp>
    </p:spTree>
    <p:extLst>
      <p:ext uri="{BB962C8B-B14F-4D97-AF65-F5344CB8AC3E}">
        <p14:creationId xmlns:p14="http://schemas.microsoft.com/office/powerpoint/2010/main" val="23120321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FF4BF-F8C2-AD8E-3901-C5CFAEE2E4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R"/>
          </a:p>
        </p:txBody>
      </p:sp>
      <p:sp>
        <p:nvSpPr>
          <p:cNvPr id="3" name="Content Placeholder 2">
            <a:extLst>
              <a:ext uri="{FF2B5EF4-FFF2-40B4-BE49-F238E27FC236}">
                <a16:creationId xmlns:a16="http://schemas.microsoft.com/office/drawing/2014/main" id="{6560920E-8CD0-00E9-958B-E07AFCBA15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Text Placeholder 3">
            <a:extLst>
              <a:ext uri="{FF2B5EF4-FFF2-40B4-BE49-F238E27FC236}">
                <a16:creationId xmlns:a16="http://schemas.microsoft.com/office/drawing/2014/main" id="{BC746267-6B34-F0B0-720F-5E2636EF12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7C034A-8659-EE03-2861-FF9B6A38C86B}"/>
              </a:ext>
            </a:extLst>
          </p:cNvPr>
          <p:cNvSpPr>
            <a:spLocks noGrp="1"/>
          </p:cNvSpPr>
          <p:nvPr>
            <p:ph type="dt" sz="half" idx="10"/>
          </p:nvPr>
        </p:nvSpPr>
        <p:spPr/>
        <p:txBody>
          <a:bodyPr/>
          <a:lstStyle/>
          <a:p>
            <a:fld id="{675035C9-4822-EC4F-8E2A-1820FD05D325}" type="datetimeFigureOut">
              <a:rPr lang="en-TR" smtClean="0"/>
              <a:t>30.11.2025</a:t>
            </a:fld>
            <a:endParaRPr lang="en-TR"/>
          </a:p>
        </p:txBody>
      </p:sp>
      <p:sp>
        <p:nvSpPr>
          <p:cNvPr id="6" name="Footer Placeholder 5">
            <a:extLst>
              <a:ext uri="{FF2B5EF4-FFF2-40B4-BE49-F238E27FC236}">
                <a16:creationId xmlns:a16="http://schemas.microsoft.com/office/drawing/2014/main" id="{4F354E6E-BFF6-DA17-E4C6-860FAFF3929C}"/>
              </a:ext>
            </a:extLst>
          </p:cNvPr>
          <p:cNvSpPr>
            <a:spLocks noGrp="1"/>
          </p:cNvSpPr>
          <p:nvPr>
            <p:ph type="ftr" sz="quarter" idx="11"/>
          </p:nvPr>
        </p:nvSpPr>
        <p:spPr/>
        <p:txBody>
          <a:bodyPr/>
          <a:lstStyle/>
          <a:p>
            <a:endParaRPr lang="en-TR"/>
          </a:p>
        </p:txBody>
      </p:sp>
      <p:sp>
        <p:nvSpPr>
          <p:cNvPr id="7" name="Slide Number Placeholder 6">
            <a:extLst>
              <a:ext uri="{FF2B5EF4-FFF2-40B4-BE49-F238E27FC236}">
                <a16:creationId xmlns:a16="http://schemas.microsoft.com/office/drawing/2014/main" id="{4F0D8E0D-332D-3971-16DF-5E947ABE847C}"/>
              </a:ext>
            </a:extLst>
          </p:cNvPr>
          <p:cNvSpPr>
            <a:spLocks noGrp="1"/>
          </p:cNvSpPr>
          <p:nvPr>
            <p:ph type="sldNum" sz="quarter" idx="12"/>
          </p:nvPr>
        </p:nvSpPr>
        <p:spPr/>
        <p:txBody>
          <a:bodyPr/>
          <a:lstStyle/>
          <a:p>
            <a:fld id="{E816EEDA-A8E1-BD4D-8600-6DAE0032B6FD}" type="slidenum">
              <a:rPr lang="en-TR" smtClean="0"/>
              <a:t>‹#›</a:t>
            </a:fld>
            <a:endParaRPr lang="en-TR"/>
          </a:p>
        </p:txBody>
      </p:sp>
    </p:spTree>
    <p:extLst>
      <p:ext uri="{BB962C8B-B14F-4D97-AF65-F5344CB8AC3E}">
        <p14:creationId xmlns:p14="http://schemas.microsoft.com/office/powerpoint/2010/main" val="4262544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8BC8C-BD9E-A325-71BF-A41BA8D901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R"/>
          </a:p>
        </p:txBody>
      </p:sp>
      <p:sp>
        <p:nvSpPr>
          <p:cNvPr id="3" name="Picture Placeholder 2">
            <a:extLst>
              <a:ext uri="{FF2B5EF4-FFF2-40B4-BE49-F238E27FC236}">
                <a16:creationId xmlns:a16="http://schemas.microsoft.com/office/drawing/2014/main" id="{769150F3-57BE-0BAC-E1EE-247D969D55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R"/>
          </a:p>
        </p:txBody>
      </p:sp>
      <p:sp>
        <p:nvSpPr>
          <p:cNvPr id="4" name="Text Placeholder 3">
            <a:extLst>
              <a:ext uri="{FF2B5EF4-FFF2-40B4-BE49-F238E27FC236}">
                <a16:creationId xmlns:a16="http://schemas.microsoft.com/office/drawing/2014/main" id="{2B365261-4EBF-4156-9548-6A259600A6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6B517F-4F2C-2E0F-FDCC-179788153310}"/>
              </a:ext>
            </a:extLst>
          </p:cNvPr>
          <p:cNvSpPr>
            <a:spLocks noGrp="1"/>
          </p:cNvSpPr>
          <p:nvPr>
            <p:ph type="dt" sz="half" idx="10"/>
          </p:nvPr>
        </p:nvSpPr>
        <p:spPr/>
        <p:txBody>
          <a:bodyPr/>
          <a:lstStyle/>
          <a:p>
            <a:fld id="{675035C9-4822-EC4F-8E2A-1820FD05D325}" type="datetimeFigureOut">
              <a:rPr lang="en-TR" smtClean="0"/>
              <a:t>30.11.2025</a:t>
            </a:fld>
            <a:endParaRPr lang="en-TR"/>
          </a:p>
        </p:txBody>
      </p:sp>
      <p:sp>
        <p:nvSpPr>
          <p:cNvPr id="6" name="Footer Placeholder 5">
            <a:extLst>
              <a:ext uri="{FF2B5EF4-FFF2-40B4-BE49-F238E27FC236}">
                <a16:creationId xmlns:a16="http://schemas.microsoft.com/office/drawing/2014/main" id="{DA686B5A-C99C-2B37-286C-D4A35A38E514}"/>
              </a:ext>
            </a:extLst>
          </p:cNvPr>
          <p:cNvSpPr>
            <a:spLocks noGrp="1"/>
          </p:cNvSpPr>
          <p:nvPr>
            <p:ph type="ftr" sz="quarter" idx="11"/>
          </p:nvPr>
        </p:nvSpPr>
        <p:spPr/>
        <p:txBody>
          <a:bodyPr/>
          <a:lstStyle/>
          <a:p>
            <a:endParaRPr lang="en-TR"/>
          </a:p>
        </p:txBody>
      </p:sp>
      <p:sp>
        <p:nvSpPr>
          <p:cNvPr id="7" name="Slide Number Placeholder 6">
            <a:extLst>
              <a:ext uri="{FF2B5EF4-FFF2-40B4-BE49-F238E27FC236}">
                <a16:creationId xmlns:a16="http://schemas.microsoft.com/office/drawing/2014/main" id="{593F5877-E0D1-A633-7323-20F8F31F60B8}"/>
              </a:ext>
            </a:extLst>
          </p:cNvPr>
          <p:cNvSpPr>
            <a:spLocks noGrp="1"/>
          </p:cNvSpPr>
          <p:nvPr>
            <p:ph type="sldNum" sz="quarter" idx="12"/>
          </p:nvPr>
        </p:nvSpPr>
        <p:spPr/>
        <p:txBody>
          <a:bodyPr/>
          <a:lstStyle/>
          <a:p>
            <a:fld id="{E816EEDA-A8E1-BD4D-8600-6DAE0032B6FD}" type="slidenum">
              <a:rPr lang="en-TR" smtClean="0"/>
              <a:t>‹#›</a:t>
            </a:fld>
            <a:endParaRPr lang="en-TR"/>
          </a:p>
        </p:txBody>
      </p:sp>
    </p:spTree>
    <p:extLst>
      <p:ext uri="{BB962C8B-B14F-4D97-AF65-F5344CB8AC3E}">
        <p14:creationId xmlns:p14="http://schemas.microsoft.com/office/powerpoint/2010/main" val="222095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81B4D-8786-AFFE-64A5-F02A4A1D9DFF}"/>
              </a:ext>
            </a:extLst>
          </p:cNvPr>
          <p:cNvSpPr>
            <a:spLocks noGrp="1"/>
          </p:cNvSpPr>
          <p:nvPr>
            <p:ph type="title"/>
          </p:nvPr>
        </p:nvSpPr>
        <p:spPr/>
        <p:txBody>
          <a:bodyPr/>
          <a:lstStyle/>
          <a:p>
            <a:r>
              <a:rPr lang="en-US"/>
              <a:t>Click to edit Master title style</a:t>
            </a:r>
            <a:endParaRPr lang="en-TR"/>
          </a:p>
        </p:txBody>
      </p:sp>
      <p:sp>
        <p:nvSpPr>
          <p:cNvPr id="3" name="Vertical Text Placeholder 2">
            <a:extLst>
              <a:ext uri="{FF2B5EF4-FFF2-40B4-BE49-F238E27FC236}">
                <a16:creationId xmlns:a16="http://schemas.microsoft.com/office/drawing/2014/main" id="{B35EE477-F241-F149-8403-314C69B264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Date Placeholder 3">
            <a:extLst>
              <a:ext uri="{FF2B5EF4-FFF2-40B4-BE49-F238E27FC236}">
                <a16:creationId xmlns:a16="http://schemas.microsoft.com/office/drawing/2014/main" id="{7CE0ED1D-E088-0BBF-0763-817FEA53AF8A}"/>
              </a:ext>
            </a:extLst>
          </p:cNvPr>
          <p:cNvSpPr>
            <a:spLocks noGrp="1"/>
          </p:cNvSpPr>
          <p:nvPr>
            <p:ph type="dt" sz="half" idx="10"/>
          </p:nvPr>
        </p:nvSpPr>
        <p:spPr/>
        <p:txBody>
          <a:bodyPr/>
          <a:lstStyle/>
          <a:p>
            <a:fld id="{675035C9-4822-EC4F-8E2A-1820FD05D325}" type="datetimeFigureOut">
              <a:rPr lang="en-TR" smtClean="0"/>
              <a:t>30.11.2025</a:t>
            </a:fld>
            <a:endParaRPr lang="en-TR"/>
          </a:p>
        </p:txBody>
      </p:sp>
      <p:sp>
        <p:nvSpPr>
          <p:cNvPr id="5" name="Footer Placeholder 4">
            <a:extLst>
              <a:ext uri="{FF2B5EF4-FFF2-40B4-BE49-F238E27FC236}">
                <a16:creationId xmlns:a16="http://schemas.microsoft.com/office/drawing/2014/main" id="{00AF35D5-524A-9FC4-6C1D-A55A33B1705F}"/>
              </a:ext>
            </a:extLst>
          </p:cNvPr>
          <p:cNvSpPr>
            <a:spLocks noGrp="1"/>
          </p:cNvSpPr>
          <p:nvPr>
            <p:ph type="ftr" sz="quarter" idx="11"/>
          </p:nvPr>
        </p:nvSpPr>
        <p:spPr/>
        <p:txBody>
          <a:bodyPr/>
          <a:lstStyle/>
          <a:p>
            <a:endParaRPr lang="en-TR"/>
          </a:p>
        </p:txBody>
      </p:sp>
      <p:sp>
        <p:nvSpPr>
          <p:cNvPr id="6" name="Slide Number Placeholder 5">
            <a:extLst>
              <a:ext uri="{FF2B5EF4-FFF2-40B4-BE49-F238E27FC236}">
                <a16:creationId xmlns:a16="http://schemas.microsoft.com/office/drawing/2014/main" id="{D365B45F-AE29-93B5-197E-C5674198DF09}"/>
              </a:ext>
            </a:extLst>
          </p:cNvPr>
          <p:cNvSpPr>
            <a:spLocks noGrp="1"/>
          </p:cNvSpPr>
          <p:nvPr>
            <p:ph type="sldNum" sz="quarter" idx="12"/>
          </p:nvPr>
        </p:nvSpPr>
        <p:spPr/>
        <p:txBody>
          <a:bodyPr/>
          <a:lstStyle/>
          <a:p>
            <a:fld id="{E816EEDA-A8E1-BD4D-8600-6DAE0032B6FD}" type="slidenum">
              <a:rPr lang="en-TR" smtClean="0"/>
              <a:t>‹#›</a:t>
            </a:fld>
            <a:endParaRPr lang="en-TR"/>
          </a:p>
        </p:txBody>
      </p:sp>
    </p:spTree>
    <p:extLst>
      <p:ext uri="{BB962C8B-B14F-4D97-AF65-F5344CB8AC3E}">
        <p14:creationId xmlns:p14="http://schemas.microsoft.com/office/powerpoint/2010/main" val="24668246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85F82A-7102-0BDB-867D-C64F071F39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R"/>
          </a:p>
        </p:txBody>
      </p:sp>
      <p:sp>
        <p:nvSpPr>
          <p:cNvPr id="3" name="Vertical Text Placeholder 2">
            <a:extLst>
              <a:ext uri="{FF2B5EF4-FFF2-40B4-BE49-F238E27FC236}">
                <a16:creationId xmlns:a16="http://schemas.microsoft.com/office/drawing/2014/main" id="{7943C20A-3F79-8476-06EC-032A4A50D6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Date Placeholder 3">
            <a:extLst>
              <a:ext uri="{FF2B5EF4-FFF2-40B4-BE49-F238E27FC236}">
                <a16:creationId xmlns:a16="http://schemas.microsoft.com/office/drawing/2014/main" id="{8585BD9A-33D4-8135-0DF4-00EC34F7F74F}"/>
              </a:ext>
            </a:extLst>
          </p:cNvPr>
          <p:cNvSpPr>
            <a:spLocks noGrp="1"/>
          </p:cNvSpPr>
          <p:nvPr>
            <p:ph type="dt" sz="half" idx="10"/>
          </p:nvPr>
        </p:nvSpPr>
        <p:spPr/>
        <p:txBody>
          <a:bodyPr/>
          <a:lstStyle/>
          <a:p>
            <a:fld id="{675035C9-4822-EC4F-8E2A-1820FD05D325}" type="datetimeFigureOut">
              <a:rPr lang="en-TR" smtClean="0"/>
              <a:t>30.11.2025</a:t>
            </a:fld>
            <a:endParaRPr lang="en-TR"/>
          </a:p>
        </p:txBody>
      </p:sp>
      <p:sp>
        <p:nvSpPr>
          <p:cNvPr id="5" name="Footer Placeholder 4">
            <a:extLst>
              <a:ext uri="{FF2B5EF4-FFF2-40B4-BE49-F238E27FC236}">
                <a16:creationId xmlns:a16="http://schemas.microsoft.com/office/drawing/2014/main" id="{396710BE-4EB3-E2F3-3A1A-C2574ADB9B26}"/>
              </a:ext>
            </a:extLst>
          </p:cNvPr>
          <p:cNvSpPr>
            <a:spLocks noGrp="1"/>
          </p:cNvSpPr>
          <p:nvPr>
            <p:ph type="ftr" sz="quarter" idx="11"/>
          </p:nvPr>
        </p:nvSpPr>
        <p:spPr/>
        <p:txBody>
          <a:bodyPr/>
          <a:lstStyle/>
          <a:p>
            <a:endParaRPr lang="en-TR"/>
          </a:p>
        </p:txBody>
      </p:sp>
      <p:sp>
        <p:nvSpPr>
          <p:cNvPr id="6" name="Slide Number Placeholder 5">
            <a:extLst>
              <a:ext uri="{FF2B5EF4-FFF2-40B4-BE49-F238E27FC236}">
                <a16:creationId xmlns:a16="http://schemas.microsoft.com/office/drawing/2014/main" id="{709F76E2-1557-CEE3-127E-CD9C0EBA397F}"/>
              </a:ext>
            </a:extLst>
          </p:cNvPr>
          <p:cNvSpPr>
            <a:spLocks noGrp="1"/>
          </p:cNvSpPr>
          <p:nvPr>
            <p:ph type="sldNum" sz="quarter" idx="12"/>
          </p:nvPr>
        </p:nvSpPr>
        <p:spPr/>
        <p:txBody>
          <a:bodyPr/>
          <a:lstStyle/>
          <a:p>
            <a:fld id="{E816EEDA-A8E1-BD4D-8600-6DAE0032B6FD}" type="slidenum">
              <a:rPr lang="en-TR" smtClean="0"/>
              <a:t>‹#›</a:t>
            </a:fld>
            <a:endParaRPr lang="en-TR"/>
          </a:p>
        </p:txBody>
      </p:sp>
    </p:spTree>
    <p:extLst>
      <p:ext uri="{BB962C8B-B14F-4D97-AF65-F5344CB8AC3E}">
        <p14:creationId xmlns:p14="http://schemas.microsoft.com/office/powerpoint/2010/main" val="27382754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75035C9-4822-EC4F-8E2A-1820FD05D325}" type="datetimeFigureOut">
              <a:rPr lang="en-TR" smtClean="0"/>
              <a:t>30.11.2025</a:t>
            </a:fld>
            <a:endParaRPr lang="en-TR"/>
          </a:p>
        </p:txBody>
      </p:sp>
      <p:sp>
        <p:nvSpPr>
          <p:cNvPr id="5" name="Footer Placeholder 4"/>
          <p:cNvSpPr>
            <a:spLocks noGrp="1"/>
          </p:cNvSpPr>
          <p:nvPr>
            <p:ph type="ftr" sz="quarter" idx="11"/>
          </p:nvPr>
        </p:nvSpPr>
        <p:spPr>
          <a:xfrm>
            <a:off x="2416500" y="329307"/>
            <a:ext cx="4973915" cy="309201"/>
          </a:xfrm>
        </p:spPr>
        <p:txBody>
          <a:bodyPr/>
          <a:lstStyle/>
          <a:p>
            <a:endParaRPr lang="en-TR"/>
          </a:p>
        </p:txBody>
      </p:sp>
      <p:sp>
        <p:nvSpPr>
          <p:cNvPr id="6" name="Slide Number Placeholder 5"/>
          <p:cNvSpPr>
            <a:spLocks noGrp="1"/>
          </p:cNvSpPr>
          <p:nvPr>
            <p:ph type="sldNum" sz="quarter" idx="12"/>
          </p:nvPr>
        </p:nvSpPr>
        <p:spPr>
          <a:xfrm>
            <a:off x="1437664" y="798973"/>
            <a:ext cx="811019" cy="503578"/>
          </a:xfrm>
        </p:spPr>
        <p:txBody>
          <a:bodyPr/>
          <a:lstStyle/>
          <a:p>
            <a:fld id="{E816EEDA-A8E1-BD4D-8600-6DAE0032B6FD}" type="slidenum">
              <a:rPr lang="en-TR" smtClean="0"/>
              <a:t>‹#›</a:t>
            </a:fld>
            <a:endParaRPr lang="en-TR"/>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922197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5035C9-4822-EC4F-8E2A-1820FD05D325}" type="datetimeFigureOut">
              <a:rPr lang="en-TR" smtClean="0"/>
              <a:t>30.11.2025</a:t>
            </a:fld>
            <a:endParaRPr lang="en-TR"/>
          </a:p>
        </p:txBody>
      </p:sp>
      <p:sp>
        <p:nvSpPr>
          <p:cNvPr id="5" name="Footer Placeholder 4"/>
          <p:cNvSpPr>
            <a:spLocks noGrp="1"/>
          </p:cNvSpPr>
          <p:nvPr>
            <p:ph type="ftr" sz="quarter" idx="11"/>
          </p:nvPr>
        </p:nvSpPr>
        <p:spPr/>
        <p:txBody>
          <a:bodyPr/>
          <a:lstStyle/>
          <a:p>
            <a:endParaRPr lang="en-TR"/>
          </a:p>
        </p:txBody>
      </p:sp>
      <p:sp>
        <p:nvSpPr>
          <p:cNvPr id="6" name="Slide Number Placeholder 5"/>
          <p:cNvSpPr>
            <a:spLocks noGrp="1"/>
          </p:cNvSpPr>
          <p:nvPr>
            <p:ph type="sldNum" sz="quarter" idx="12"/>
          </p:nvPr>
        </p:nvSpPr>
        <p:spPr/>
        <p:txBody>
          <a:bodyPr/>
          <a:lstStyle/>
          <a:p>
            <a:fld id="{E816EEDA-A8E1-BD4D-8600-6DAE0032B6FD}" type="slidenum">
              <a:rPr lang="en-TR" smtClean="0"/>
              <a:t>‹#›</a:t>
            </a:fld>
            <a:endParaRPr lang="en-TR"/>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818713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5035C9-4822-EC4F-8E2A-1820FD05D325}" type="datetimeFigureOut">
              <a:rPr lang="en-TR" smtClean="0"/>
              <a:t>30.11.2025</a:t>
            </a:fld>
            <a:endParaRPr lang="en-TR"/>
          </a:p>
        </p:txBody>
      </p:sp>
      <p:sp>
        <p:nvSpPr>
          <p:cNvPr id="5" name="Footer Placeholder 4"/>
          <p:cNvSpPr>
            <a:spLocks noGrp="1"/>
          </p:cNvSpPr>
          <p:nvPr>
            <p:ph type="ftr" sz="quarter" idx="11"/>
          </p:nvPr>
        </p:nvSpPr>
        <p:spPr/>
        <p:txBody>
          <a:bodyPr/>
          <a:lstStyle/>
          <a:p>
            <a:endParaRPr lang="en-TR"/>
          </a:p>
        </p:txBody>
      </p:sp>
      <p:sp>
        <p:nvSpPr>
          <p:cNvPr id="6" name="Slide Number Placeholder 5"/>
          <p:cNvSpPr>
            <a:spLocks noGrp="1"/>
          </p:cNvSpPr>
          <p:nvPr>
            <p:ph type="sldNum" sz="quarter" idx="12"/>
          </p:nvPr>
        </p:nvSpPr>
        <p:spPr/>
        <p:txBody>
          <a:bodyPr/>
          <a:lstStyle/>
          <a:p>
            <a:fld id="{E816EEDA-A8E1-BD4D-8600-6DAE0032B6FD}" type="slidenum">
              <a:rPr lang="en-TR" smtClean="0"/>
              <a:t>‹#›</a:t>
            </a:fld>
            <a:endParaRPr lang="en-TR"/>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514011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75035C9-4822-EC4F-8E2A-1820FD05D325}" type="datetimeFigureOut">
              <a:rPr lang="en-TR" smtClean="0"/>
              <a:t>30.11.2025</a:t>
            </a:fld>
            <a:endParaRPr lang="en-TR"/>
          </a:p>
        </p:txBody>
      </p:sp>
      <p:sp>
        <p:nvSpPr>
          <p:cNvPr id="6" name="Footer Placeholder 5"/>
          <p:cNvSpPr>
            <a:spLocks noGrp="1"/>
          </p:cNvSpPr>
          <p:nvPr>
            <p:ph type="ftr" sz="quarter" idx="11"/>
          </p:nvPr>
        </p:nvSpPr>
        <p:spPr/>
        <p:txBody>
          <a:bodyPr/>
          <a:lstStyle/>
          <a:p>
            <a:endParaRPr lang="en-TR"/>
          </a:p>
        </p:txBody>
      </p:sp>
      <p:sp>
        <p:nvSpPr>
          <p:cNvPr id="7" name="Slide Number Placeholder 6"/>
          <p:cNvSpPr>
            <a:spLocks noGrp="1"/>
          </p:cNvSpPr>
          <p:nvPr>
            <p:ph type="sldNum" sz="quarter" idx="12"/>
          </p:nvPr>
        </p:nvSpPr>
        <p:spPr/>
        <p:txBody>
          <a:bodyPr/>
          <a:lstStyle/>
          <a:p>
            <a:fld id="{E816EEDA-A8E1-BD4D-8600-6DAE0032B6FD}" type="slidenum">
              <a:rPr lang="en-TR" smtClean="0"/>
              <a:t>‹#›</a:t>
            </a:fld>
            <a:endParaRPr lang="en-TR"/>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387027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75035C9-4822-EC4F-8E2A-1820FD05D325}" type="datetimeFigureOut">
              <a:rPr lang="en-TR" smtClean="0"/>
              <a:t>30.11.2025</a:t>
            </a:fld>
            <a:endParaRPr lang="en-TR"/>
          </a:p>
        </p:txBody>
      </p:sp>
      <p:sp>
        <p:nvSpPr>
          <p:cNvPr id="8" name="Footer Placeholder 7"/>
          <p:cNvSpPr>
            <a:spLocks noGrp="1"/>
          </p:cNvSpPr>
          <p:nvPr>
            <p:ph type="ftr" sz="quarter" idx="11"/>
          </p:nvPr>
        </p:nvSpPr>
        <p:spPr/>
        <p:txBody>
          <a:bodyPr/>
          <a:lstStyle/>
          <a:p>
            <a:endParaRPr lang="en-TR"/>
          </a:p>
        </p:txBody>
      </p:sp>
      <p:sp>
        <p:nvSpPr>
          <p:cNvPr id="9" name="Slide Number Placeholder 8"/>
          <p:cNvSpPr>
            <a:spLocks noGrp="1"/>
          </p:cNvSpPr>
          <p:nvPr>
            <p:ph type="sldNum" sz="quarter" idx="12"/>
          </p:nvPr>
        </p:nvSpPr>
        <p:spPr/>
        <p:txBody>
          <a:bodyPr/>
          <a:lstStyle/>
          <a:p>
            <a:fld id="{E816EEDA-A8E1-BD4D-8600-6DAE0032B6FD}" type="slidenum">
              <a:rPr lang="en-TR" smtClean="0"/>
              <a:t>‹#›</a:t>
            </a:fld>
            <a:endParaRPr lang="en-TR"/>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51708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5035C9-4822-EC4F-8E2A-1820FD05D325}" type="datetimeFigureOut">
              <a:rPr lang="en-TR" smtClean="0"/>
              <a:t>30.11.2025</a:t>
            </a:fld>
            <a:endParaRPr lang="en-TR"/>
          </a:p>
        </p:txBody>
      </p:sp>
      <p:sp>
        <p:nvSpPr>
          <p:cNvPr id="4" name="Footer Placeholder 3"/>
          <p:cNvSpPr>
            <a:spLocks noGrp="1"/>
          </p:cNvSpPr>
          <p:nvPr>
            <p:ph type="ftr" sz="quarter" idx="11"/>
          </p:nvPr>
        </p:nvSpPr>
        <p:spPr/>
        <p:txBody>
          <a:bodyPr/>
          <a:lstStyle/>
          <a:p>
            <a:endParaRPr lang="en-TR"/>
          </a:p>
        </p:txBody>
      </p:sp>
      <p:sp>
        <p:nvSpPr>
          <p:cNvPr id="5" name="Slide Number Placeholder 4"/>
          <p:cNvSpPr>
            <a:spLocks noGrp="1"/>
          </p:cNvSpPr>
          <p:nvPr>
            <p:ph type="sldNum" sz="quarter" idx="12"/>
          </p:nvPr>
        </p:nvSpPr>
        <p:spPr/>
        <p:txBody>
          <a:bodyPr/>
          <a:lstStyle/>
          <a:p>
            <a:fld id="{E816EEDA-A8E1-BD4D-8600-6DAE0032B6FD}" type="slidenum">
              <a:rPr lang="en-TR" smtClean="0"/>
              <a:t>‹#›</a:t>
            </a:fld>
            <a:endParaRPr lang="en-TR"/>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246931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5035C9-4822-EC4F-8E2A-1820FD05D325}" type="datetimeFigureOut">
              <a:rPr lang="en-TR" smtClean="0"/>
              <a:t>30.11.2025</a:t>
            </a:fld>
            <a:endParaRPr lang="en-TR"/>
          </a:p>
        </p:txBody>
      </p:sp>
      <p:sp>
        <p:nvSpPr>
          <p:cNvPr id="3" name="Footer Placeholder 2"/>
          <p:cNvSpPr>
            <a:spLocks noGrp="1"/>
          </p:cNvSpPr>
          <p:nvPr>
            <p:ph type="ftr" sz="quarter" idx="11"/>
          </p:nvPr>
        </p:nvSpPr>
        <p:spPr/>
        <p:txBody>
          <a:bodyPr/>
          <a:lstStyle/>
          <a:p>
            <a:endParaRPr lang="en-TR"/>
          </a:p>
        </p:txBody>
      </p:sp>
      <p:sp>
        <p:nvSpPr>
          <p:cNvPr id="4" name="Slide Number Placeholder 3"/>
          <p:cNvSpPr>
            <a:spLocks noGrp="1"/>
          </p:cNvSpPr>
          <p:nvPr>
            <p:ph type="sldNum" sz="quarter" idx="12"/>
          </p:nvPr>
        </p:nvSpPr>
        <p:spPr/>
        <p:txBody>
          <a:bodyPr/>
          <a:lstStyle/>
          <a:p>
            <a:fld id="{E816EEDA-A8E1-BD4D-8600-6DAE0032B6FD}" type="slidenum">
              <a:rPr lang="en-TR" smtClean="0"/>
              <a:t>‹#›</a:t>
            </a:fld>
            <a:endParaRPr lang="en-TR"/>
          </a:p>
        </p:txBody>
      </p:sp>
    </p:spTree>
    <p:extLst>
      <p:ext uri="{BB962C8B-B14F-4D97-AF65-F5344CB8AC3E}">
        <p14:creationId xmlns:p14="http://schemas.microsoft.com/office/powerpoint/2010/main" val="23110326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75035C9-4822-EC4F-8E2A-1820FD05D325}" type="datetimeFigureOut">
              <a:rPr lang="en-TR" smtClean="0"/>
              <a:t>30.11.2025</a:t>
            </a:fld>
            <a:endParaRPr lang="en-TR"/>
          </a:p>
        </p:txBody>
      </p:sp>
      <p:sp>
        <p:nvSpPr>
          <p:cNvPr id="6" name="Footer Placeholder 5"/>
          <p:cNvSpPr>
            <a:spLocks noGrp="1"/>
          </p:cNvSpPr>
          <p:nvPr>
            <p:ph type="ftr" sz="quarter" idx="11"/>
          </p:nvPr>
        </p:nvSpPr>
        <p:spPr/>
        <p:txBody>
          <a:bodyPr/>
          <a:lstStyle/>
          <a:p>
            <a:endParaRPr lang="en-TR"/>
          </a:p>
        </p:txBody>
      </p:sp>
      <p:sp>
        <p:nvSpPr>
          <p:cNvPr id="7" name="Slide Number Placeholder 6"/>
          <p:cNvSpPr>
            <a:spLocks noGrp="1"/>
          </p:cNvSpPr>
          <p:nvPr>
            <p:ph type="sldNum" sz="quarter" idx="12"/>
          </p:nvPr>
        </p:nvSpPr>
        <p:spPr/>
        <p:txBody>
          <a:bodyPr/>
          <a:lstStyle/>
          <a:p>
            <a:fld id="{E816EEDA-A8E1-BD4D-8600-6DAE0032B6FD}" type="slidenum">
              <a:rPr lang="en-TR" smtClean="0"/>
              <a:t>‹#›</a:t>
            </a:fld>
            <a:endParaRPr lang="en-TR"/>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4240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675035C9-4822-EC4F-8E2A-1820FD05D325}" type="datetimeFigureOut">
              <a:rPr lang="en-TR" smtClean="0"/>
              <a:t>30.11.2025</a:t>
            </a:fld>
            <a:endParaRPr lang="en-TR"/>
          </a:p>
        </p:txBody>
      </p:sp>
      <p:sp>
        <p:nvSpPr>
          <p:cNvPr id="6" name="Footer Placeholder 5"/>
          <p:cNvSpPr>
            <a:spLocks noGrp="1"/>
          </p:cNvSpPr>
          <p:nvPr>
            <p:ph type="ftr" sz="quarter" idx="11"/>
          </p:nvPr>
        </p:nvSpPr>
        <p:spPr>
          <a:xfrm>
            <a:off x="1447382" y="318640"/>
            <a:ext cx="5541004" cy="320931"/>
          </a:xfrm>
        </p:spPr>
        <p:txBody>
          <a:bodyPr/>
          <a:lstStyle/>
          <a:p>
            <a:endParaRPr lang="en-TR"/>
          </a:p>
        </p:txBody>
      </p:sp>
      <p:sp>
        <p:nvSpPr>
          <p:cNvPr id="7" name="Slide Number Placeholder 6"/>
          <p:cNvSpPr>
            <a:spLocks noGrp="1"/>
          </p:cNvSpPr>
          <p:nvPr>
            <p:ph type="sldNum" sz="quarter" idx="12"/>
          </p:nvPr>
        </p:nvSpPr>
        <p:spPr/>
        <p:txBody>
          <a:bodyPr/>
          <a:lstStyle/>
          <a:p>
            <a:fld id="{E816EEDA-A8E1-BD4D-8600-6DAE0032B6FD}" type="slidenum">
              <a:rPr lang="en-TR" smtClean="0"/>
              <a:t>‹#›</a:t>
            </a:fld>
            <a:endParaRPr lang="en-TR"/>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936063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5035C9-4822-EC4F-8E2A-1820FD05D325}" type="datetimeFigureOut">
              <a:rPr lang="en-TR" smtClean="0"/>
              <a:t>30.11.2025</a:t>
            </a:fld>
            <a:endParaRPr lang="en-TR"/>
          </a:p>
        </p:txBody>
      </p:sp>
      <p:sp>
        <p:nvSpPr>
          <p:cNvPr id="5" name="Footer Placeholder 4"/>
          <p:cNvSpPr>
            <a:spLocks noGrp="1"/>
          </p:cNvSpPr>
          <p:nvPr>
            <p:ph type="ftr" sz="quarter" idx="11"/>
          </p:nvPr>
        </p:nvSpPr>
        <p:spPr/>
        <p:txBody>
          <a:bodyPr/>
          <a:lstStyle/>
          <a:p>
            <a:endParaRPr lang="en-TR"/>
          </a:p>
        </p:txBody>
      </p:sp>
      <p:sp>
        <p:nvSpPr>
          <p:cNvPr id="6" name="Slide Number Placeholder 5"/>
          <p:cNvSpPr>
            <a:spLocks noGrp="1"/>
          </p:cNvSpPr>
          <p:nvPr>
            <p:ph type="sldNum" sz="quarter" idx="12"/>
          </p:nvPr>
        </p:nvSpPr>
        <p:spPr/>
        <p:txBody>
          <a:bodyPr/>
          <a:lstStyle/>
          <a:p>
            <a:fld id="{E816EEDA-A8E1-BD4D-8600-6DAE0032B6FD}" type="slidenum">
              <a:rPr lang="en-TR" smtClean="0"/>
              <a:t>‹#›</a:t>
            </a:fld>
            <a:endParaRPr lang="en-TR"/>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829726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5035C9-4822-EC4F-8E2A-1820FD05D325}" type="datetimeFigureOut">
              <a:rPr lang="en-TR" smtClean="0"/>
              <a:t>30.11.2025</a:t>
            </a:fld>
            <a:endParaRPr lang="en-TR"/>
          </a:p>
        </p:txBody>
      </p:sp>
      <p:sp>
        <p:nvSpPr>
          <p:cNvPr id="5" name="Footer Placeholder 4"/>
          <p:cNvSpPr>
            <a:spLocks noGrp="1"/>
          </p:cNvSpPr>
          <p:nvPr>
            <p:ph type="ftr" sz="quarter" idx="11"/>
          </p:nvPr>
        </p:nvSpPr>
        <p:spPr/>
        <p:txBody>
          <a:bodyPr/>
          <a:lstStyle/>
          <a:p>
            <a:endParaRPr lang="en-TR"/>
          </a:p>
        </p:txBody>
      </p:sp>
      <p:sp>
        <p:nvSpPr>
          <p:cNvPr id="6" name="Slide Number Placeholder 5"/>
          <p:cNvSpPr>
            <a:spLocks noGrp="1"/>
          </p:cNvSpPr>
          <p:nvPr>
            <p:ph type="sldNum" sz="quarter" idx="12"/>
          </p:nvPr>
        </p:nvSpPr>
        <p:spPr/>
        <p:txBody>
          <a:bodyPr/>
          <a:lstStyle/>
          <a:p>
            <a:fld id="{E816EEDA-A8E1-BD4D-8600-6DAE0032B6FD}" type="slidenum">
              <a:rPr lang="en-TR" smtClean="0"/>
              <a:t>‹#›</a:t>
            </a:fld>
            <a:endParaRPr lang="en-TR"/>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979994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54235F-A7DD-AC19-E20D-359FFF3818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R"/>
          </a:p>
        </p:txBody>
      </p:sp>
      <p:sp>
        <p:nvSpPr>
          <p:cNvPr id="3" name="Text Placeholder 2">
            <a:extLst>
              <a:ext uri="{FF2B5EF4-FFF2-40B4-BE49-F238E27FC236}">
                <a16:creationId xmlns:a16="http://schemas.microsoft.com/office/drawing/2014/main" id="{5A99B2B1-A4B8-FF4E-0FF7-A1459B0C63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Date Placeholder 3">
            <a:extLst>
              <a:ext uri="{FF2B5EF4-FFF2-40B4-BE49-F238E27FC236}">
                <a16:creationId xmlns:a16="http://schemas.microsoft.com/office/drawing/2014/main" id="{7C1840C5-853B-BDA6-437B-0374FFC3EF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75035C9-4822-EC4F-8E2A-1820FD05D325}" type="datetimeFigureOut">
              <a:rPr lang="en-TR" smtClean="0"/>
              <a:t>30.11.2025</a:t>
            </a:fld>
            <a:endParaRPr lang="en-TR"/>
          </a:p>
        </p:txBody>
      </p:sp>
      <p:sp>
        <p:nvSpPr>
          <p:cNvPr id="5" name="Footer Placeholder 4">
            <a:extLst>
              <a:ext uri="{FF2B5EF4-FFF2-40B4-BE49-F238E27FC236}">
                <a16:creationId xmlns:a16="http://schemas.microsoft.com/office/drawing/2014/main" id="{4EEEAFBB-1309-725A-1001-48339BB92D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TR"/>
          </a:p>
        </p:txBody>
      </p:sp>
      <p:sp>
        <p:nvSpPr>
          <p:cNvPr id="6" name="Slide Number Placeholder 5">
            <a:extLst>
              <a:ext uri="{FF2B5EF4-FFF2-40B4-BE49-F238E27FC236}">
                <a16:creationId xmlns:a16="http://schemas.microsoft.com/office/drawing/2014/main" id="{42CF7B4D-349B-F4DD-9E1A-208529F693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816EEDA-A8E1-BD4D-8600-6DAE0032B6FD}" type="slidenum">
              <a:rPr lang="en-TR" smtClean="0"/>
              <a:t>‹#›</a:t>
            </a:fld>
            <a:endParaRPr lang="en-TR"/>
          </a:p>
        </p:txBody>
      </p:sp>
    </p:spTree>
    <p:extLst>
      <p:ext uri="{BB962C8B-B14F-4D97-AF65-F5344CB8AC3E}">
        <p14:creationId xmlns:p14="http://schemas.microsoft.com/office/powerpoint/2010/main" val="28093174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675035C9-4822-EC4F-8E2A-1820FD05D325}" type="datetimeFigureOut">
              <a:rPr lang="en-TR" smtClean="0"/>
              <a:t>30.11.2025</a:t>
            </a:fld>
            <a:endParaRPr lang="en-TR"/>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TR"/>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E816EEDA-A8E1-BD4D-8600-6DAE0032B6FD}" type="slidenum">
              <a:rPr lang="en-TR" smtClean="0"/>
              <a:t>‹#›</a:t>
            </a:fld>
            <a:endParaRPr lang="en-TR"/>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266601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5C4A64AB-F69C-EC5F-01DB-A2DD9FF01958}"/>
              </a:ext>
            </a:extLst>
          </p:cNvPr>
          <p:cNvSpPr>
            <a:spLocks noGrp="1" noChangeArrowheads="1"/>
          </p:cNvSpPr>
          <p:nvPr>
            <p:ph type="ctrTitle"/>
          </p:nvPr>
        </p:nvSpPr>
        <p:spPr bwMode="auto">
          <a:xfrm>
            <a:off x="1699796" y="463342"/>
            <a:ext cx="879240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TR" altLang="en-TR" sz="3600" b="0" i="0" u="none" strike="noStrike" cap="none" normalizeH="0" baseline="0" dirty="0">
                <a:ln>
                  <a:noFill/>
                </a:ln>
                <a:solidFill>
                  <a:srgbClr val="000000"/>
                </a:solidFill>
                <a:effectLst/>
                <a:latin typeface="-webkit-standard"/>
              </a:rPr>
            </a:br>
            <a:r>
              <a:rPr kumimoji="0" lang="en-TR" altLang="en-TR" sz="3600" b="0" i="0" u="none" strike="noStrike" cap="none" normalizeH="0" baseline="0" dirty="0">
                <a:ln>
                  <a:noFill/>
                </a:ln>
                <a:solidFill>
                  <a:srgbClr val="000000"/>
                </a:solidFill>
                <a:effectLst/>
                <a:latin typeface="-webkit-standard"/>
              </a:rPr>
              <a:t>Optimizing E-Commerce Operations in Türkiye</a:t>
            </a:r>
            <a:br>
              <a:rPr kumimoji="0" lang="en-TR" altLang="en-TR" sz="3600" b="0" i="0" u="none" strike="noStrike" cap="none" normalizeH="0" baseline="0" dirty="0">
                <a:ln>
                  <a:noFill/>
                </a:ln>
                <a:solidFill>
                  <a:srgbClr val="000000"/>
                </a:solidFill>
                <a:effectLst/>
                <a:latin typeface="-webkit-standard"/>
              </a:rPr>
            </a:br>
            <a:endParaRPr kumimoji="0" lang="en-TR" altLang="en-TR" sz="3600" b="0" i="0" u="none" strike="noStrike" cap="none" normalizeH="0" baseline="0" dirty="0">
              <a:ln>
                <a:noFill/>
              </a:ln>
              <a:solidFill>
                <a:schemeClr val="tx1"/>
              </a:solidFill>
              <a:effectLst/>
              <a:latin typeface="Arial" panose="020B0604020202020204" pitchFamily="34" charset="0"/>
            </a:endParaRPr>
          </a:p>
        </p:txBody>
      </p:sp>
      <p:sp>
        <p:nvSpPr>
          <p:cNvPr id="3" name="Subtitle 2">
            <a:extLst>
              <a:ext uri="{FF2B5EF4-FFF2-40B4-BE49-F238E27FC236}">
                <a16:creationId xmlns:a16="http://schemas.microsoft.com/office/drawing/2014/main" id="{AD27918E-8AD9-CD87-DBF8-3F1DDFD1242C}"/>
              </a:ext>
            </a:extLst>
          </p:cNvPr>
          <p:cNvSpPr>
            <a:spLocks noGrp="1"/>
          </p:cNvSpPr>
          <p:nvPr>
            <p:ph type="subTitle" idx="1"/>
          </p:nvPr>
        </p:nvSpPr>
        <p:spPr>
          <a:xfrm>
            <a:off x="2367279" y="2509520"/>
            <a:ext cx="9489442" cy="3281680"/>
          </a:xfrm>
        </p:spPr>
        <p:txBody>
          <a:bodyPr>
            <a:normAutofit fontScale="92500" lnSpcReduction="20000"/>
          </a:bodyPr>
          <a:lstStyle/>
          <a:p>
            <a:r>
              <a:rPr lang="en-US" dirty="0"/>
              <a:t>A Data-Driven Analysis of Logistics &amp; Loyalty</a:t>
            </a:r>
          </a:p>
          <a:p>
            <a:r>
              <a:rPr lang="en-US"/>
              <a:t>group 28</a:t>
            </a:r>
            <a:endParaRPr lang="en-US" dirty="0"/>
          </a:p>
          <a:p>
            <a:endParaRPr lang="en-US" dirty="0"/>
          </a:p>
          <a:p>
            <a:pPr algn="l"/>
            <a:r>
              <a:rPr lang="en-TR" dirty="0"/>
              <a:t> Team Members:</a:t>
            </a:r>
          </a:p>
          <a:p>
            <a:pPr algn="l"/>
            <a:r>
              <a:rPr lang="en-TR" dirty="0"/>
              <a:t>		Barış Arslan</a:t>
            </a:r>
          </a:p>
          <a:p>
            <a:pPr algn="l"/>
            <a:r>
              <a:rPr lang="en-TR" dirty="0"/>
              <a:t>		Oğuz kerem Ayhan</a:t>
            </a:r>
          </a:p>
          <a:p>
            <a:pPr algn="l"/>
            <a:r>
              <a:rPr lang="en-TR" dirty="0"/>
              <a:t>		Ali Tuğrul Akıcı</a:t>
            </a:r>
          </a:p>
          <a:p>
            <a:pPr algn="l"/>
            <a:r>
              <a:rPr lang="en-TR" dirty="0"/>
              <a:t>		Batuhan Ayranlı</a:t>
            </a:r>
            <a:endParaRPr lang="en-US" dirty="0"/>
          </a:p>
        </p:txBody>
      </p:sp>
    </p:spTree>
    <p:extLst>
      <p:ext uri="{BB962C8B-B14F-4D97-AF65-F5344CB8AC3E}">
        <p14:creationId xmlns:p14="http://schemas.microsoft.com/office/powerpoint/2010/main" val="1246793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85800" y="1429484"/>
            <a:ext cx="3504518" cy="3765352"/>
          </a:xfrm>
          <a:custGeom>
            <a:avLst/>
            <a:gdLst/>
            <a:ahLst/>
            <a:cxnLst/>
            <a:rect l="l" t="t" r="r" b="b"/>
            <a:pathLst>
              <a:path w="5256777" h="5648028">
                <a:moveTo>
                  <a:pt x="0" y="0"/>
                </a:moveTo>
                <a:lnTo>
                  <a:pt x="5256777" y="0"/>
                </a:lnTo>
                <a:lnTo>
                  <a:pt x="5256777" y="5648028"/>
                </a:lnTo>
                <a:lnTo>
                  <a:pt x="0" y="5648028"/>
                </a:lnTo>
                <a:lnTo>
                  <a:pt x="0" y="0"/>
                </a:lnTo>
                <a:close/>
              </a:path>
            </a:pathLst>
          </a:custGeom>
          <a:blipFill>
            <a:blip r:embed="rId2"/>
            <a:stretch>
              <a:fillRect r="-459"/>
            </a:stretch>
          </a:blipFill>
        </p:spPr>
      </p:sp>
      <p:sp>
        <p:nvSpPr>
          <p:cNvPr id="3" name="TextBox 3"/>
          <p:cNvSpPr txBox="1"/>
          <p:nvPr/>
        </p:nvSpPr>
        <p:spPr>
          <a:xfrm>
            <a:off x="1723584" y="404178"/>
            <a:ext cx="8744832" cy="720775"/>
          </a:xfrm>
          <a:prstGeom prst="rect">
            <a:avLst/>
          </a:prstGeom>
        </p:spPr>
        <p:txBody>
          <a:bodyPr lIns="0" tIns="0" rIns="0" bIns="0" rtlCol="0" anchor="t">
            <a:spAutoFit/>
          </a:bodyPr>
          <a:lstStyle/>
          <a:p>
            <a:pPr algn="ctr">
              <a:lnSpc>
                <a:spcPts val="2893"/>
              </a:lnSpc>
              <a:spcBef>
                <a:spcPct val="0"/>
              </a:spcBef>
            </a:pPr>
            <a:r>
              <a:rPr lang="en-US" sz="2067" b="1">
                <a:solidFill>
                  <a:srgbClr val="000000"/>
                </a:solidFill>
                <a:latin typeface="Arimo Bold"/>
                <a:ea typeface="Arimo Bold"/>
                <a:cs typeface="Arimo Bold"/>
                <a:sym typeface="Arimo Bold"/>
              </a:rPr>
              <a:t>Is there a "Prime Spending Age" where Transaction Value peaks, and where does the sharp drop-off begin?</a:t>
            </a:r>
          </a:p>
        </p:txBody>
      </p:sp>
      <p:sp>
        <p:nvSpPr>
          <p:cNvPr id="4" name="TextBox 4"/>
          <p:cNvSpPr txBox="1"/>
          <p:nvPr/>
        </p:nvSpPr>
        <p:spPr>
          <a:xfrm>
            <a:off x="4729065" y="1765723"/>
            <a:ext cx="6777135" cy="2751715"/>
          </a:xfrm>
          <a:prstGeom prst="rect">
            <a:avLst/>
          </a:prstGeom>
        </p:spPr>
        <p:txBody>
          <a:bodyPr lIns="0" tIns="0" rIns="0" bIns="0" rtlCol="0" anchor="t">
            <a:spAutoFit/>
          </a:bodyPr>
          <a:lstStyle/>
          <a:p>
            <a:pPr algn="just">
              <a:lnSpc>
                <a:spcPts val="2427"/>
              </a:lnSpc>
              <a:spcBef>
                <a:spcPct val="0"/>
              </a:spcBef>
            </a:pPr>
            <a:r>
              <a:rPr lang="en-US" sz="1733">
                <a:solidFill>
                  <a:srgbClr val="000000"/>
                </a:solidFill>
                <a:latin typeface="Arimo"/>
                <a:ea typeface="Arimo"/>
                <a:cs typeface="Arimo"/>
                <a:sym typeface="Arimo"/>
              </a:rPr>
              <a:t>The data reveals a consistent high-spending plateau across the 40s, 10s, 20s, and 50s. Interestingly, the youngest (10s, 20s) and middle-aged (40s, 50s) groups share a similar Average Transaction Value (ATV), consistently exceeding the 1,000₺ threshold.</a:t>
            </a:r>
          </a:p>
          <a:p>
            <a:pPr algn="just">
              <a:lnSpc>
                <a:spcPts val="2427"/>
              </a:lnSpc>
              <a:spcBef>
                <a:spcPct val="0"/>
              </a:spcBef>
            </a:pPr>
            <a:endParaRPr lang="en-US" sz="1733">
              <a:solidFill>
                <a:srgbClr val="000000"/>
              </a:solidFill>
              <a:latin typeface="Arimo"/>
              <a:ea typeface="Arimo"/>
              <a:cs typeface="Arimo"/>
              <a:sym typeface="Arimo"/>
            </a:endParaRPr>
          </a:p>
          <a:p>
            <a:pPr algn="just">
              <a:lnSpc>
                <a:spcPts val="2427"/>
              </a:lnSpc>
              <a:spcBef>
                <a:spcPct val="0"/>
              </a:spcBef>
            </a:pPr>
            <a:r>
              <a:rPr lang="en-US" sz="1733">
                <a:solidFill>
                  <a:srgbClr val="000000"/>
                </a:solidFill>
                <a:latin typeface="Arimo"/>
                <a:ea typeface="Arimo"/>
                <a:cs typeface="Arimo"/>
                <a:sym typeface="Arimo"/>
              </a:rPr>
              <a:t>While the 30s and 60s show a slight decrease, the most significant insight comes from the 70s age group. Here, we see a drastic decline (more than 50% drop compared to the top performers), indicating a major shift in purchasing behavior or budget constraints for this demographic.</a:t>
            </a:r>
          </a:p>
        </p:txBody>
      </p:sp>
      <p:sp>
        <p:nvSpPr>
          <p:cNvPr id="5" name="TextBox 5"/>
          <p:cNvSpPr txBox="1"/>
          <p:nvPr/>
        </p:nvSpPr>
        <p:spPr>
          <a:xfrm>
            <a:off x="2130439" y="5390530"/>
            <a:ext cx="7931123" cy="905056"/>
          </a:xfrm>
          <a:prstGeom prst="rect">
            <a:avLst/>
          </a:prstGeom>
        </p:spPr>
        <p:txBody>
          <a:bodyPr lIns="0" tIns="0" rIns="0" bIns="0" rtlCol="0" anchor="t">
            <a:spAutoFit/>
          </a:bodyPr>
          <a:lstStyle/>
          <a:p>
            <a:pPr algn="ctr">
              <a:lnSpc>
                <a:spcPts val="2427"/>
              </a:lnSpc>
              <a:spcBef>
                <a:spcPct val="0"/>
              </a:spcBef>
            </a:pPr>
            <a:r>
              <a:rPr lang="en-US" sz="1733" b="1">
                <a:solidFill>
                  <a:srgbClr val="000000"/>
                </a:solidFill>
                <a:latin typeface="Arimo Bold"/>
                <a:ea typeface="Arimo Bold"/>
                <a:cs typeface="Arimo Bold"/>
                <a:sym typeface="Arimo Bold"/>
              </a:rPr>
              <a:t>So, the "Sweet Spot" for maximizing transaction value is broad, covering ages from 10 to 50, but the 70s group represents a clear outlier with significantly lower spending power, suggesting they are not the primary target for high-value items.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64755" y="1344077"/>
            <a:ext cx="6451695" cy="3766177"/>
          </a:xfrm>
          <a:custGeom>
            <a:avLst/>
            <a:gdLst/>
            <a:ahLst/>
            <a:cxnLst/>
            <a:rect l="l" t="t" r="r" b="b"/>
            <a:pathLst>
              <a:path w="9677543" h="5649266">
                <a:moveTo>
                  <a:pt x="0" y="0"/>
                </a:moveTo>
                <a:lnTo>
                  <a:pt x="9677543" y="0"/>
                </a:lnTo>
                <a:lnTo>
                  <a:pt x="9677543" y="5649266"/>
                </a:lnTo>
                <a:lnTo>
                  <a:pt x="0" y="5649266"/>
                </a:lnTo>
                <a:lnTo>
                  <a:pt x="0" y="0"/>
                </a:lnTo>
                <a:close/>
              </a:path>
            </a:pathLst>
          </a:custGeom>
          <a:blipFill>
            <a:blip r:embed="rId2"/>
            <a:stretch>
              <a:fillRect/>
            </a:stretch>
          </a:blipFill>
        </p:spPr>
      </p:sp>
      <p:sp>
        <p:nvSpPr>
          <p:cNvPr id="3" name="TextBox 3"/>
          <p:cNvSpPr txBox="1"/>
          <p:nvPr/>
        </p:nvSpPr>
        <p:spPr>
          <a:xfrm>
            <a:off x="1723584" y="404178"/>
            <a:ext cx="8744832" cy="720775"/>
          </a:xfrm>
          <a:prstGeom prst="rect">
            <a:avLst/>
          </a:prstGeom>
        </p:spPr>
        <p:txBody>
          <a:bodyPr lIns="0" tIns="0" rIns="0" bIns="0" rtlCol="0" anchor="t">
            <a:spAutoFit/>
          </a:bodyPr>
          <a:lstStyle/>
          <a:p>
            <a:pPr algn="ctr">
              <a:lnSpc>
                <a:spcPts val="2893"/>
              </a:lnSpc>
              <a:spcBef>
                <a:spcPct val="0"/>
              </a:spcBef>
            </a:pPr>
            <a:r>
              <a:rPr lang="en-US" sz="2067" b="1">
                <a:solidFill>
                  <a:srgbClr val="000000"/>
                </a:solidFill>
                <a:latin typeface="Arimo Bold"/>
                <a:ea typeface="Arimo Bold"/>
                <a:cs typeface="Arimo Bold"/>
                <a:sym typeface="Arimo Bold"/>
              </a:rPr>
              <a:t>Does Age Dictate Payment Preference? An Analysis of Transactional Behavior Across Generations</a:t>
            </a:r>
          </a:p>
        </p:txBody>
      </p:sp>
      <p:sp>
        <p:nvSpPr>
          <p:cNvPr id="4" name="TextBox 4"/>
          <p:cNvSpPr txBox="1"/>
          <p:nvPr/>
        </p:nvSpPr>
        <p:spPr>
          <a:xfrm>
            <a:off x="7273672" y="1601990"/>
            <a:ext cx="4590117" cy="2946897"/>
          </a:xfrm>
          <a:prstGeom prst="rect">
            <a:avLst/>
          </a:prstGeom>
        </p:spPr>
        <p:txBody>
          <a:bodyPr lIns="0" tIns="0" rIns="0" bIns="0" rtlCol="0" anchor="t">
            <a:spAutoFit/>
          </a:bodyPr>
          <a:lstStyle/>
          <a:p>
            <a:pPr algn="just">
              <a:lnSpc>
                <a:spcPts val="2147"/>
              </a:lnSpc>
              <a:spcBef>
                <a:spcPct val="0"/>
              </a:spcBef>
            </a:pPr>
            <a:r>
              <a:rPr lang="en-US" sz="1533">
                <a:solidFill>
                  <a:srgbClr val="000000"/>
                </a:solidFill>
                <a:latin typeface="Arimo"/>
                <a:ea typeface="Arimo"/>
                <a:cs typeface="Arimo"/>
                <a:sym typeface="Arimo"/>
              </a:rPr>
              <a:t>The data exhibits remarkable transactional homogeneity across the 10-60 age cohorts, where Credit Cards dominate alongside a persistent reliance on 'Bank Transfer' and 'Cash on Delivery'. Conversely, a significant statistical deviation occurs within the 70 age cohort, which entirely eliminates these legacy methods. Surprisingly, this senior demographic demonstrates the highest adoption of Digital Wallets (&gt;30%), challenging conventional stereotypes of geriatric fintech resistance by prioritizing frictionless electronic settlements over traditional logistical complexity.</a:t>
            </a:r>
          </a:p>
        </p:txBody>
      </p:sp>
      <p:sp>
        <p:nvSpPr>
          <p:cNvPr id="5" name="TextBox 5"/>
          <p:cNvSpPr txBox="1"/>
          <p:nvPr/>
        </p:nvSpPr>
        <p:spPr>
          <a:xfrm>
            <a:off x="1373906" y="5267639"/>
            <a:ext cx="9094510" cy="1061766"/>
          </a:xfrm>
          <a:prstGeom prst="rect">
            <a:avLst/>
          </a:prstGeom>
        </p:spPr>
        <p:txBody>
          <a:bodyPr lIns="0" tIns="0" rIns="0" bIns="0" rtlCol="0" anchor="t">
            <a:spAutoFit/>
          </a:bodyPr>
          <a:lstStyle/>
          <a:p>
            <a:pPr algn="ctr">
              <a:lnSpc>
                <a:spcPts val="2147"/>
              </a:lnSpc>
              <a:spcBef>
                <a:spcPct val="0"/>
              </a:spcBef>
            </a:pPr>
            <a:r>
              <a:rPr lang="en-US" sz="1533" b="1">
                <a:solidFill>
                  <a:srgbClr val="000000"/>
                </a:solidFill>
                <a:latin typeface="Arimo Bold"/>
                <a:ea typeface="Arimo Bold"/>
                <a:cs typeface="Arimo Bold"/>
                <a:sym typeface="Arimo Bold"/>
              </a:rPr>
              <a:t>This analysis invalidates the operational assumption that legacy payment gateways like 'Cash on Delivery' are requisite for older users. Businesses can confidently streamline operations by reducing cash logistics overhead, as the senior demographic has fully pivoted to digital channels. Consequently, strategic investment should prioritize Digital Wallet accessibility rather than maintaining outdated infrastructure for this segment.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a:xfrm>
            <a:off x="2229394" y="592182"/>
            <a:ext cx="8159931" cy="705394"/>
          </a:xfrm>
        </p:spPr>
        <p:txBody>
          <a:bodyPr>
            <a:noAutofit/>
          </a:bodyPr>
          <a:lstStyle/>
          <a:p>
            <a:r>
              <a:rPr lang="en-US" sz="2400" b="1" dirty="0"/>
              <a:t>Does the Session Duration correlate with the Total Amount </a:t>
            </a:r>
            <a:br>
              <a:rPr lang="en-US" sz="2400" b="1" dirty="0"/>
            </a:br>
            <a:r>
              <a:rPr lang="en-US" sz="2400" b="1" dirty="0"/>
              <a:t>spent and how does this relationship vary by Device Type? </a:t>
            </a:r>
            <a:endParaRPr lang="tr-TR" sz="2400" b="1" dirty="0"/>
          </a:p>
        </p:txBody>
      </p:sp>
      <p:pic>
        <p:nvPicPr>
          <p:cNvPr id="4" name="Resi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9705" y="1593669"/>
            <a:ext cx="6844227" cy="3862962"/>
          </a:xfrm>
          <a:prstGeom prst="rect">
            <a:avLst/>
          </a:prstGeom>
        </p:spPr>
      </p:pic>
      <p:sp>
        <p:nvSpPr>
          <p:cNvPr id="5" name="Metin kutusu 4"/>
          <p:cNvSpPr txBox="1"/>
          <p:nvPr/>
        </p:nvSpPr>
        <p:spPr>
          <a:xfrm>
            <a:off x="7410994" y="1593669"/>
            <a:ext cx="4206238" cy="4031873"/>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sz="1600" dirty="0"/>
              <a:t>The</a:t>
            </a:r>
            <a:r>
              <a:rPr lang="tr-TR" sz="1600" dirty="0"/>
              <a:t> </a:t>
            </a:r>
            <a:r>
              <a:rPr lang="tr-TR" sz="1600" dirty="0" err="1"/>
              <a:t>lines</a:t>
            </a:r>
            <a:r>
              <a:rPr lang="tr-TR" sz="1600" dirty="0"/>
              <a:t>’</a:t>
            </a:r>
            <a:r>
              <a:rPr lang="en-US" sz="1600" dirty="0"/>
              <a:t> p-values (0.83, 0.82, 0.90) are all very high, meaning none of the slopes are statistically significant. </a:t>
            </a:r>
            <a:endParaRPr lang="tr-TR" sz="1600" dirty="0"/>
          </a:p>
          <a:p>
            <a:pPr marL="285750" indent="-285750">
              <a:buClr>
                <a:schemeClr val="accent1"/>
              </a:buClr>
              <a:buFont typeface="Arial" panose="020B0604020202020204" pitchFamily="34" charset="0"/>
              <a:buChar char="•"/>
            </a:pPr>
            <a:endParaRPr lang="tr-TR" sz="1600" dirty="0"/>
          </a:p>
          <a:p>
            <a:pPr marL="285750" indent="-285750">
              <a:buClr>
                <a:schemeClr val="accent1"/>
              </a:buClr>
              <a:buFont typeface="Arial" panose="020B0604020202020204" pitchFamily="34" charset="0"/>
              <a:buChar char="•"/>
            </a:pPr>
            <a:r>
              <a:rPr lang="en-US" sz="1600" dirty="0"/>
              <a:t>The coefficients vary slightly in direction (some negative, some positive), but the effects are</a:t>
            </a:r>
            <a:r>
              <a:rPr lang="tr-TR" sz="1600" dirty="0"/>
              <a:t> </a:t>
            </a:r>
            <a:r>
              <a:rPr lang="tr-TR" sz="1600" b="1" dirty="0" err="1"/>
              <a:t>insignificant</a:t>
            </a:r>
            <a:r>
              <a:rPr lang="en-US" sz="1600" dirty="0"/>
              <a:t>. </a:t>
            </a:r>
            <a:endParaRPr lang="tr-TR" sz="1600" dirty="0"/>
          </a:p>
          <a:p>
            <a:pPr marL="285750" indent="-285750">
              <a:buClr>
                <a:schemeClr val="accent1"/>
              </a:buClr>
              <a:buFont typeface="Arial" panose="020B0604020202020204" pitchFamily="34" charset="0"/>
              <a:buChar char="•"/>
            </a:pPr>
            <a:endParaRPr lang="tr-TR" sz="1600" dirty="0"/>
          </a:p>
          <a:p>
            <a:pPr marL="285750" indent="-285750">
              <a:buClr>
                <a:schemeClr val="accent1"/>
              </a:buClr>
              <a:buFont typeface="Arial" panose="020B0604020202020204" pitchFamily="34" charset="0"/>
              <a:buChar char="•"/>
            </a:pPr>
            <a:r>
              <a:rPr lang="en-US" sz="1600" dirty="0"/>
              <a:t>This indicates that </a:t>
            </a:r>
            <a:r>
              <a:rPr lang="en-US" sz="1600" b="1" dirty="0"/>
              <a:t>session length does not reliably impact spending</a:t>
            </a:r>
            <a:r>
              <a:rPr lang="tr-TR" sz="1600" dirty="0"/>
              <a:t> </a:t>
            </a:r>
            <a:r>
              <a:rPr lang="tr-TR" sz="1600" dirty="0" err="1"/>
              <a:t>which</a:t>
            </a:r>
            <a:r>
              <a:rPr lang="tr-TR" sz="1600" dirty="0"/>
              <a:t> </a:t>
            </a:r>
            <a:r>
              <a:rPr lang="tr-TR" sz="1600" dirty="0" err="1"/>
              <a:t>means</a:t>
            </a:r>
            <a:r>
              <a:rPr lang="tr-TR" sz="1600" dirty="0"/>
              <a:t> </a:t>
            </a:r>
            <a:r>
              <a:rPr lang="tr-TR" sz="1600" dirty="0" err="1"/>
              <a:t>average</a:t>
            </a:r>
            <a:r>
              <a:rPr lang="tr-TR" sz="1600" dirty="0"/>
              <a:t> </a:t>
            </a:r>
            <a:r>
              <a:rPr lang="tr-TR" sz="1600" dirty="0" err="1"/>
              <a:t>spending</a:t>
            </a:r>
            <a:r>
              <a:rPr lang="tr-TR" sz="1600" dirty="0"/>
              <a:t> </a:t>
            </a:r>
            <a:r>
              <a:rPr lang="tr-TR" sz="1600" dirty="0" err="1"/>
              <a:t>stays</a:t>
            </a:r>
            <a:r>
              <a:rPr lang="tr-TR" sz="1600" dirty="0"/>
              <a:t> </a:t>
            </a:r>
            <a:r>
              <a:rPr lang="tr-TR" sz="1600" dirty="0" err="1"/>
              <a:t>roughly</a:t>
            </a:r>
            <a:r>
              <a:rPr lang="tr-TR" sz="1600" dirty="0"/>
              <a:t> </a:t>
            </a:r>
            <a:r>
              <a:rPr lang="tr-TR" sz="1600" dirty="0" err="1"/>
              <a:t>the</a:t>
            </a:r>
            <a:r>
              <a:rPr lang="tr-TR" sz="1600" dirty="0"/>
              <a:t> </a:t>
            </a:r>
            <a:r>
              <a:rPr lang="tr-TR" sz="1600" dirty="0" err="1"/>
              <a:t>same</a:t>
            </a:r>
            <a:r>
              <a:rPr lang="tr-TR" sz="1600" dirty="0"/>
              <a:t> </a:t>
            </a:r>
            <a:r>
              <a:rPr lang="tr-TR" sz="1600" dirty="0" err="1"/>
              <a:t>regardless</a:t>
            </a:r>
            <a:r>
              <a:rPr lang="tr-TR" sz="1600" dirty="0"/>
              <a:t> of </a:t>
            </a:r>
            <a:r>
              <a:rPr lang="tr-TR" sz="1600" dirty="0" err="1"/>
              <a:t>session</a:t>
            </a:r>
            <a:r>
              <a:rPr lang="tr-TR" sz="1600" dirty="0"/>
              <a:t> </a:t>
            </a:r>
            <a:r>
              <a:rPr lang="tr-TR" sz="1600" dirty="0" err="1"/>
              <a:t>length</a:t>
            </a:r>
            <a:r>
              <a:rPr lang="tr-TR" sz="1600" dirty="0"/>
              <a:t>.</a:t>
            </a:r>
          </a:p>
          <a:p>
            <a:pPr marL="285750" indent="-285750">
              <a:buClr>
                <a:schemeClr val="accent1"/>
              </a:buClr>
              <a:buFont typeface="Arial" panose="020B0604020202020204" pitchFamily="34" charset="0"/>
              <a:buChar char="•"/>
            </a:pPr>
            <a:endParaRPr lang="tr-TR" sz="1600" dirty="0"/>
          </a:p>
          <a:p>
            <a:pPr marL="285750" indent="-285750">
              <a:buClr>
                <a:schemeClr val="accent1"/>
              </a:buClr>
              <a:buFont typeface="Arial" panose="020B0604020202020204" pitchFamily="34" charset="0"/>
              <a:buChar char="•"/>
            </a:pPr>
            <a:r>
              <a:rPr lang="tr-TR" sz="1600" dirty="0" err="1"/>
              <a:t>In</a:t>
            </a:r>
            <a:r>
              <a:rPr lang="tr-TR" sz="1600" dirty="0"/>
              <a:t> </a:t>
            </a:r>
            <a:r>
              <a:rPr lang="tr-TR" sz="1600" dirty="0" err="1"/>
              <a:t>conclusion</a:t>
            </a:r>
            <a:r>
              <a:rPr lang="tr-TR" sz="1600" dirty="0"/>
              <a:t> a</a:t>
            </a:r>
            <a:r>
              <a:rPr lang="en-US" sz="1600" dirty="0" err="1"/>
              <a:t>ll</a:t>
            </a:r>
            <a:r>
              <a:rPr lang="en-US" sz="1600" dirty="0"/>
              <a:t> three regression lines show </a:t>
            </a:r>
            <a:r>
              <a:rPr lang="en-US" sz="1600" b="1" dirty="0"/>
              <a:t>no significant relationship</a:t>
            </a:r>
            <a:r>
              <a:rPr lang="en-US" sz="1600" dirty="0"/>
              <a:t> between session duration and total spending.</a:t>
            </a:r>
            <a:endParaRPr lang="tr-TR" sz="1600" dirty="0">
              <a:effectLst/>
            </a:endParaRPr>
          </a:p>
        </p:txBody>
      </p:sp>
      <p:sp>
        <p:nvSpPr>
          <p:cNvPr id="10" name="Metin kutusu 9"/>
          <p:cNvSpPr txBox="1"/>
          <p:nvPr/>
        </p:nvSpPr>
        <p:spPr>
          <a:xfrm>
            <a:off x="1985555" y="5789386"/>
            <a:ext cx="4798422" cy="646331"/>
          </a:xfrm>
          <a:prstGeom prst="rect">
            <a:avLst/>
          </a:prstGeom>
          <a:noFill/>
        </p:spPr>
        <p:txBody>
          <a:bodyPr wrap="square" rtlCol="0">
            <a:spAutoFit/>
          </a:bodyPr>
          <a:lstStyle/>
          <a:p>
            <a:r>
              <a:rPr lang="en-US" b="1" dirty="0"/>
              <a:t>Session duration does not affect total spending, and this is consistent across all device types</a:t>
            </a:r>
            <a:r>
              <a:rPr lang="en-US" dirty="0"/>
              <a:t>.</a:t>
            </a:r>
            <a:endParaRPr lang="tr-TR" dirty="0"/>
          </a:p>
        </p:txBody>
      </p:sp>
    </p:spTree>
    <p:extLst>
      <p:ext uri="{BB962C8B-B14F-4D97-AF65-F5344CB8AC3E}">
        <p14:creationId xmlns:p14="http://schemas.microsoft.com/office/powerpoint/2010/main" val="2307606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o 3"/>
          <p:cNvGraphicFramePr>
            <a:graphicFrameLocks noGrp="1"/>
          </p:cNvGraphicFramePr>
          <p:nvPr/>
        </p:nvGraphicFramePr>
        <p:xfrm>
          <a:off x="7097136" y="4482302"/>
          <a:ext cx="4812760" cy="914400"/>
        </p:xfrm>
        <a:graphic>
          <a:graphicData uri="http://schemas.openxmlformats.org/drawingml/2006/table">
            <a:tbl>
              <a:tblPr/>
              <a:tblGrid>
                <a:gridCol w="2406380">
                  <a:extLst>
                    <a:ext uri="{9D8B030D-6E8A-4147-A177-3AD203B41FA5}">
                      <a16:colId xmlns:a16="http://schemas.microsoft.com/office/drawing/2014/main" val="20000"/>
                    </a:ext>
                  </a:extLst>
                </a:gridCol>
                <a:gridCol w="2406380">
                  <a:extLst>
                    <a:ext uri="{9D8B030D-6E8A-4147-A177-3AD203B41FA5}">
                      <a16:colId xmlns:a16="http://schemas.microsoft.com/office/drawing/2014/main" val="20001"/>
                    </a:ext>
                  </a:extLst>
                </a:gridCol>
              </a:tblGrid>
              <a:tr h="0">
                <a:tc>
                  <a:txBody>
                    <a:bodyPr/>
                    <a:lstStyle/>
                    <a:p>
                      <a:pPr marL="0" indent="0" algn="ctr" rtl="0">
                        <a:buFont typeface="Arial" panose="020B0604020202020204" pitchFamily="34" charset="0"/>
                        <a:buNone/>
                      </a:pPr>
                      <a:r>
                        <a:rPr lang="tr-TR" sz="1200" b="1" dirty="0">
                          <a:solidFill>
                            <a:srgbClr val="1F1F1F"/>
                          </a:solidFill>
                          <a:effectLst/>
                          <a:latin typeface="Google Sans Text"/>
                        </a:rPr>
                        <a:t>Device </a:t>
                      </a:r>
                      <a:r>
                        <a:rPr lang="tr-TR" sz="1200" b="1" dirty="0" err="1">
                          <a:solidFill>
                            <a:srgbClr val="1F1F1F"/>
                          </a:solidFill>
                          <a:effectLst/>
                          <a:latin typeface="Google Sans Text"/>
                        </a:rPr>
                        <a:t>Type</a:t>
                      </a:r>
                      <a:endParaRPr lang="tr-TR" sz="1200" dirty="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rtl="0">
                        <a:buFont typeface="Arial" panose="020B0604020202020204" pitchFamily="34" charset="0"/>
                        <a:buNone/>
                      </a:pPr>
                      <a:r>
                        <a:rPr lang="en-US" sz="1200" b="1" dirty="0">
                          <a:solidFill>
                            <a:srgbClr val="1F1F1F"/>
                          </a:solidFill>
                          <a:effectLst/>
                          <a:latin typeface="Google Sans Text"/>
                        </a:rPr>
                        <a:t>Optimal Pages Viewed</a:t>
                      </a:r>
                      <a:endParaRPr lang="en-US" sz="1200" dirty="0">
                        <a:solidFill>
                          <a:srgbClr val="1F1F1F"/>
                        </a:solidFill>
                        <a:effectLst/>
                        <a:latin typeface="Google Sans Text"/>
                      </a:endParaRPr>
                    </a:p>
                  </a:txBody>
                  <a:tcPr marT="60960" marB="6096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762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rtl="0"/>
                      <a:r>
                        <a:rPr lang="tr-TR" sz="1200" b="1" dirty="0">
                          <a:solidFill>
                            <a:srgbClr val="1F1F1F"/>
                          </a:solidFill>
                          <a:effectLst/>
                          <a:latin typeface="Google Sans Text"/>
                        </a:rPr>
                        <a:t>Mobile (</a:t>
                      </a:r>
                      <a:r>
                        <a:rPr lang="tr-TR" sz="1200" b="1" dirty="0" err="1">
                          <a:solidFill>
                            <a:srgbClr val="1F1F1F"/>
                          </a:solidFill>
                          <a:effectLst/>
                          <a:latin typeface="Google Sans Text"/>
                        </a:rPr>
                        <a:t>Orange</a:t>
                      </a:r>
                      <a:r>
                        <a:rPr lang="tr-TR" sz="1200" b="1" dirty="0">
                          <a:solidFill>
                            <a:srgbClr val="1F1F1F"/>
                          </a:solidFill>
                          <a:effectLst/>
                          <a:latin typeface="Google Sans Text"/>
                        </a:rPr>
                        <a:t>)</a:t>
                      </a:r>
                      <a:endParaRPr lang="tr-TR" sz="1200" dirty="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US" sz="1200" dirty="0">
                          <a:solidFill>
                            <a:srgbClr val="1F1F1F"/>
                          </a:solidFill>
                          <a:effectLst/>
                          <a:latin typeface="Google Sans Text"/>
                        </a:rPr>
                        <a:t>Around </a:t>
                      </a:r>
                      <a:r>
                        <a:rPr lang="tr-TR" sz="1200" b="1" dirty="0">
                          <a:solidFill>
                            <a:srgbClr val="1F1F1F"/>
                          </a:solidFill>
                          <a:effectLst/>
                          <a:latin typeface="Google Sans Text"/>
                        </a:rPr>
                        <a:t>8</a:t>
                      </a:r>
                      <a:r>
                        <a:rPr lang="en-US" sz="1200" b="1" dirty="0">
                          <a:solidFill>
                            <a:srgbClr val="1F1F1F"/>
                          </a:solidFill>
                          <a:effectLst/>
                          <a:latin typeface="Google Sans Text"/>
                        </a:rPr>
                        <a:t> to 1</a:t>
                      </a:r>
                      <a:r>
                        <a:rPr lang="tr-TR" sz="1200" b="1" dirty="0">
                          <a:solidFill>
                            <a:srgbClr val="1F1F1F"/>
                          </a:solidFill>
                          <a:effectLst/>
                          <a:latin typeface="Google Sans Text"/>
                        </a:rPr>
                        <a:t>0</a:t>
                      </a:r>
                      <a:r>
                        <a:rPr lang="en-US" sz="1200" b="1" dirty="0">
                          <a:solidFill>
                            <a:srgbClr val="1F1F1F"/>
                          </a:solidFill>
                          <a:effectLst/>
                          <a:latin typeface="Google Sans Text"/>
                        </a:rPr>
                        <a:t> Pages</a:t>
                      </a:r>
                      <a:endParaRPr lang="en-US" sz="1200" dirty="0">
                        <a:solidFill>
                          <a:srgbClr val="1F1F1F"/>
                        </a:solidFill>
                        <a:effectLst/>
                        <a:latin typeface="Google Sans Text"/>
                      </a:endParaRPr>
                    </a:p>
                  </a:txBody>
                  <a:tcPr marT="60960" marB="6096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rtl="0"/>
                      <a:r>
                        <a:rPr lang="tr-TR" sz="1200" b="1">
                          <a:solidFill>
                            <a:srgbClr val="1F1F1F"/>
                          </a:solidFill>
                          <a:effectLst/>
                          <a:latin typeface="Google Sans Text"/>
                        </a:rPr>
                        <a:t>Tablet (Red)</a:t>
                      </a:r>
                      <a:endParaRPr lang="tr-TR" sz="120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c>
                  <a:txBody>
                    <a:bodyPr/>
                    <a:lstStyle/>
                    <a:p>
                      <a:pPr rtl="0"/>
                      <a:r>
                        <a:rPr lang="en-US" sz="1200" dirty="0">
                          <a:solidFill>
                            <a:srgbClr val="1F1F1F"/>
                          </a:solidFill>
                          <a:effectLst/>
                          <a:latin typeface="Google Sans Text"/>
                        </a:rPr>
                        <a:t>Around </a:t>
                      </a:r>
                      <a:r>
                        <a:rPr lang="tr-TR" sz="1200" b="1" dirty="0">
                          <a:solidFill>
                            <a:srgbClr val="1F1F1F"/>
                          </a:solidFill>
                          <a:effectLst/>
                          <a:latin typeface="Google Sans Text"/>
                        </a:rPr>
                        <a:t>10</a:t>
                      </a:r>
                      <a:r>
                        <a:rPr lang="en-US" sz="1200" b="1" dirty="0">
                          <a:solidFill>
                            <a:srgbClr val="1F1F1F"/>
                          </a:solidFill>
                          <a:effectLst/>
                          <a:latin typeface="Google Sans Text"/>
                        </a:rPr>
                        <a:t> Pages</a:t>
                      </a:r>
                      <a:endParaRPr lang="en-US" sz="1200" dirty="0">
                        <a:solidFill>
                          <a:srgbClr val="1F1F1F"/>
                        </a:solidFill>
                        <a:effectLst/>
                        <a:latin typeface="Google Sans Text"/>
                      </a:endParaRPr>
                    </a:p>
                  </a:txBody>
                  <a:tcPr marT="60960" marB="6096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pic>
        <p:nvPicPr>
          <p:cNvPr id="6" name="Resim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4731" y="1304756"/>
            <a:ext cx="5901449" cy="4207442"/>
          </a:xfrm>
          <a:prstGeom prst="rect">
            <a:avLst/>
          </a:prstGeom>
        </p:spPr>
      </p:pic>
      <p:sp>
        <p:nvSpPr>
          <p:cNvPr id="7" name="Metin kutusu 6"/>
          <p:cNvSpPr txBox="1"/>
          <p:nvPr/>
        </p:nvSpPr>
        <p:spPr>
          <a:xfrm>
            <a:off x="1723439" y="237099"/>
            <a:ext cx="9179757" cy="830997"/>
          </a:xfrm>
          <a:prstGeom prst="rect">
            <a:avLst/>
          </a:prstGeom>
          <a:noFill/>
        </p:spPr>
        <p:txBody>
          <a:bodyPr wrap="none" rtlCol="0">
            <a:spAutoFit/>
          </a:bodyPr>
          <a:lstStyle/>
          <a:p>
            <a:pPr algn="ctr" fontAlgn="base"/>
            <a:r>
              <a:rPr lang="tr-TR" sz="2400" b="1" dirty="0">
                <a:latin typeface="+mj-lt"/>
              </a:rPr>
              <a:t>Is </a:t>
            </a:r>
            <a:r>
              <a:rPr lang="tr-TR" sz="2400" b="1" dirty="0" err="1">
                <a:latin typeface="+mj-lt"/>
              </a:rPr>
              <a:t>there</a:t>
            </a:r>
            <a:r>
              <a:rPr lang="tr-TR" sz="2400" b="1" dirty="0">
                <a:latin typeface="+mj-lt"/>
              </a:rPr>
              <a:t> a "</a:t>
            </a:r>
            <a:r>
              <a:rPr lang="tr-TR" sz="2400" b="1" dirty="0" err="1">
                <a:latin typeface="+mj-lt"/>
              </a:rPr>
              <a:t>Sweet</a:t>
            </a:r>
            <a:r>
              <a:rPr lang="tr-TR" sz="2400" b="1" dirty="0">
                <a:latin typeface="+mj-lt"/>
              </a:rPr>
              <a:t> Spot" </a:t>
            </a:r>
            <a:r>
              <a:rPr lang="tr-TR" sz="2400" b="1" dirty="0" err="1">
                <a:latin typeface="+mj-lt"/>
              </a:rPr>
              <a:t>for</a:t>
            </a:r>
            <a:r>
              <a:rPr lang="tr-TR" sz="2400" b="1" dirty="0">
                <a:latin typeface="+mj-lt"/>
              </a:rPr>
              <a:t> </a:t>
            </a:r>
            <a:r>
              <a:rPr lang="tr-TR" sz="2400" b="1" dirty="0" err="1">
                <a:latin typeface="+mj-lt"/>
              </a:rPr>
              <a:t>Pages</a:t>
            </a:r>
            <a:r>
              <a:rPr lang="tr-TR" sz="2400" b="1" dirty="0">
                <a:latin typeface="+mj-lt"/>
              </a:rPr>
              <a:t> </a:t>
            </a:r>
            <a:r>
              <a:rPr lang="tr-TR" sz="2400" b="1" dirty="0" err="1">
                <a:latin typeface="+mj-lt"/>
              </a:rPr>
              <a:t>Viewed</a:t>
            </a:r>
            <a:r>
              <a:rPr lang="tr-TR" sz="2400" b="1" dirty="0">
                <a:latin typeface="+mj-lt"/>
              </a:rPr>
              <a:t> </a:t>
            </a:r>
            <a:r>
              <a:rPr lang="tr-TR" sz="2400" b="1" dirty="0" err="1">
                <a:latin typeface="+mj-lt"/>
              </a:rPr>
              <a:t>where</a:t>
            </a:r>
            <a:r>
              <a:rPr lang="tr-TR" sz="2400" b="1" dirty="0">
                <a:latin typeface="+mj-lt"/>
              </a:rPr>
              <a:t> Total </a:t>
            </a:r>
            <a:r>
              <a:rPr lang="tr-TR" sz="2400" b="1" dirty="0" err="1">
                <a:latin typeface="+mj-lt"/>
              </a:rPr>
              <a:t>Spend</a:t>
            </a:r>
            <a:r>
              <a:rPr lang="tr-TR" sz="2400" b="1" dirty="0">
                <a:latin typeface="+mj-lt"/>
              </a:rPr>
              <a:t> is </a:t>
            </a:r>
            <a:r>
              <a:rPr lang="tr-TR" sz="2400" b="1" dirty="0" err="1">
                <a:latin typeface="+mj-lt"/>
              </a:rPr>
              <a:t>maximized</a:t>
            </a:r>
            <a:r>
              <a:rPr lang="tr-TR" sz="2400" b="1" dirty="0">
                <a:latin typeface="+mj-lt"/>
              </a:rPr>
              <a:t>, </a:t>
            </a:r>
          </a:p>
          <a:p>
            <a:pPr algn="ctr" fontAlgn="base"/>
            <a:r>
              <a:rPr lang="tr-TR" sz="2400" b="1" dirty="0" err="1">
                <a:latin typeface="+mj-lt"/>
              </a:rPr>
              <a:t>and</a:t>
            </a:r>
            <a:r>
              <a:rPr lang="tr-TR" sz="2400" b="1" dirty="0">
                <a:latin typeface="+mj-lt"/>
              </a:rPr>
              <a:t> </a:t>
            </a:r>
            <a:r>
              <a:rPr lang="tr-TR" sz="2400" b="1" dirty="0" err="1">
                <a:latin typeface="+mj-lt"/>
              </a:rPr>
              <a:t>does</a:t>
            </a:r>
            <a:r>
              <a:rPr lang="tr-TR" sz="2400" b="1" dirty="0">
                <a:latin typeface="+mj-lt"/>
              </a:rPr>
              <a:t> </a:t>
            </a:r>
            <a:r>
              <a:rPr lang="tr-TR" sz="2400" b="1" dirty="0" err="1">
                <a:latin typeface="+mj-lt"/>
              </a:rPr>
              <a:t>this</a:t>
            </a:r>
            <a:r>
              <a:rPr lang="tr-TR" sz="2400" b="1" dirty="0">
                <a:latin typeface="+mj-lt"/>
              </a:rPr>
              <a:t> </a:t>
            </a:r>
            <a:r>
              <a:rPr lang="tr-TR" sz="2400" b="1" dirty="0" err="1">
                <a:latin typeface="+mj-lt"/>
              </a:rPr>
              <a:t>behavior</a:t>
            </a:r>
            <a:r>
              <a:rPr lang="tr-TR" sz="2400" b="1" dirty="0">
                <a:latin typeface="+mj-lt"/>
              </a:rPr>
              <a:t> </a:t>
            </a:r>
            <a:r>
              <a:rPr lang="tr-TR" sz="2400" b="1" dirty="0" err="1">
                <a:latin typeface="+mj-lt"/>
              </a:rPr>
              <a:t>differ</a:t>
            </a:r>
            <a:r>
              <a:rPr lang="tr-TR" sz="2400" b="1" dirty="0">
                <a:latin typeface="+mj-lt"/>
              </a:rPr>
              <a:t> </a:t>
            </a:r>
            <a:r>
              <a:rPr lang="tr-TR" sz="2400" b="1" dirty="0" err="1">
                <a:latin typeface="+mj-lt"/>
              </a:rPr>
              <a:t>for</a:t>
            </a:r>
            <a:r>
              <a:rPr lang="tr-TR" sz="2400" b="1" dirty="0">
                <a:latin typeface="+mj-lt"/>
              </a:rPr>
              <a:t> </a:t>
            </a:r>
            <a:r>
              <a:rPr lang="tr-TR" sz="2400" b="1" dirty="0" err="1">
                <a:latin typeface="+mj-lt"/>
              </a:rPr>
              <a:t>different</a:t>
            </a:r>
            <a:r>
              <a:rPr lang="tr-TR" sz="2400" b="1" dirty="0">
                <a:latin typeface="+mj-lt"/>
              </a:rPr>
              <a:t> </a:t>
            </a:r>
            <a:r>
              <a:rPr lang="tr-TR" sz="2400" b="1" dirty="0" err="1">
                <a:latin typeface="+mj-lt"/>
              </a:rPr>
              <a:t>device</a:t>
            </a:r>
            <a:r>
              <a:rPr lang="tr-TR" sz="2400" b="1" dirty="0">
                <a:latin typeface="+mj-lt"/>
              </a:rPr>
              <a:t> </a:t>
            </a:r>
            <a:r>
              <a:rPr lang="tr-TR" sz="2400" b="1" dirty="0" err="1">
                <a:latin typeface="+mj-lt"/>
              </a:rPr>
              <a:t>type</a:t>
            </a:r>
            <a:r>
              <a:rPr lang="tr-TR" sz="2400" b="1" dirty="0">
                <a:latin typeface="+mj-lt"/>
              </a:rPr>
              <a:t> </a:t>
            </a:r>
            <a:r>
              <a:rPr lang="tr-TR" sz="2400" b="1" dirty="0" err="1">
                <a:latin typeface="+mj-lt"/>
              </a:rPr>
              <a:t>users</a:t>
            </a:r>
            <a:r>
              <a:rPr lang="tr-TR" sz="2400" b="1" dirty="0">
                <a:latin typeface="+mj-lt"/>
              </a:rPr>
              <a:t>? </a:t>
            </a:r>
          </a:p>
        </p:txBody>
      </p:sp>
      <p:pic>
        <p:nvPicPr>
          <p:cNvPr id="11" name="Resim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9271" y="1707821"/>
            <a:ext cx="1246909" cy="653143"/>
          </a:xfrm>
          <a:prstGeom prst="rect">
            <a:avLst/>
          </a:prstGeom>
        </p:spPr>
      </p:pic>
      <p:sp>
        <p:nvSpPr>
          <p:cNvPr id="12" name="Metin kutusu 11"/>
          <p:cNvSpPr txBox="1"/>
          <p:nvPr/>
        </p:nvSpPr>
        <p:spPr>
          <a:xfrm>
            <a:off x="7079719" y="1541417"/>
            <a:ext cx="4168730" cy="2862322"/>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tr-TR" dirty="0" err="1"/>
              <a:t>The</a:t>
            </a:r>
            <a:r>
              <a:rPr lang="tr-TR" dirty="0"/>
              <a:t> </a:t>
            </a:r>
            <a:r>
              <a:rPr lang="tr-TR" dirty="0" err="1"/>
              <a:t>correlation</a:t>
            </a:r>
            <a:r>
              <a:rPr lang="tr-TR" dirty="0"/>
              <a:t> </a:t>
            </a:r>
            <a:r>
              <a:rPr lang="tr-TR" dirty="0" err="1"/>
              <a:t>line</a:t>
            </a:r>
            <a:r>
              <a:rPr lang="tr-TR" dirty="0"/>
              <a:t> </a:t>
            </a:r>
            <a:r>
              <a:rPr lang="tr-TR" dirty="0" err="1"/>
              <a:t>for</a:t>
            </a:r>
            <a:r>
              <a:rPr lang="tr-TR" dirty="0"/>
              <a:t> </a:t>
            </a:r>
            <a:r>
              <a:rPr lang="tr-TR" dirty="0" err="1"/>
              <a:t>desktop</a:t>
            </a:r>
            <a:r>
              <a:rPr lang="tr-TR" dirty="0"/>
              <a:t> </a:t>
            </a:r>
            <a:r>
              <a:rPr lang="tr-TR" dirty="0" err="1"/>
              <a:t>shows</a:t>
            </a:r>
            <a:r>
              <a:rPr lang="tr-TR" dirty="0"/>
              <a:t> </a:t>
            </a:r>
            <a:r>
              <a:rPr lang="tr-TR" dirty="0" err="1"/>
              <a:t>that</a:t>
            </a:r>
            <a:r>
              <a:rPr lang="tr-TR" dirty="0"/>
              <a:t> </a:t>
            </a:r>
            <a:r>
              <a:rPr lang="tr-TR" dirty="0" err="1"/>
              <a:t>there</a:t>
            </a:r>
            <a:r>
              <a:rPr lang="tr-TR" dirty="0"/>
              <a:t> </a:t>
            </a:r>
            <a:r>
              <a:rPr lang="tr-TR" dirty="0" err="1"/>
              <a:t>isnt</a:t>
            </a:r>
            <a:r>
              <a:rPr lang="tr-TR" dirty="0"/>
              <a:t> an optimal </a:t>
            </a:r>
            <a:r>
              <a:rPr lang="tr-TR" dirty="0" err="1"/>
              <a:t>number</a:t>
            </a:r>
            <a:r>
              <a:rPr lang="tr-TR" dirty="0"/>
              <a:t> of </a:t>
            </a:r>
            <a:r>
              <a:rPr lang="tr-TR" dirty="0" err="1"/>
              <a:t>pages</a:t>
            </a:r>
            <a:r>
              <a:rPr lang="tr-TR" dirty="0"/>
              <a:t> </a:t>
            </a:r>
            <a:r>
              <a:rPr lang="tr-TR" dirty="0" err="1"/>
              <a:t>viewed</a:t>
            </a:r>
            <a:r>
              <a:rPr lang="tr-TR" dirty="0"/>
              <a:t> </a:t>
            </a:r>
            <a:r>
              <a:rPr lang="tr-TR" dirty="0" err="1"/>
              <a:t>and</a:t>
            </a:r>
            <a:r>
              <a:rPr lang="tr-TR" dirty="0"/>
              <a:t> </a:t>
            </a:r>
            <a:r>
              <a:rPr lang="tr-TR" dirty="0" err="1"/>
              <a:t>the</a:t>
            </a:r>
            <a:r>
              <a:rPr lang="tr-TR" dirty="0"/>
              <a:t> </a:t>
            </a:r>
            <a:r>
              <a:rPr lang="tr-TR" dirty="0" err="1"/>
              <a:t>spend</a:t>
            </a:r>
            <a:r>
              <a:rPr lang="tr-TR" dirty="0"/>
              <a:t> </a:t>
            </a:r>
            <a:r>
              <a:rPr lang="tr-TR" dirty="0" err="1"/>
              <a:t>mostly</a:t>
            </a:r>
            <a:r>
              <a:rPr lang="tr-TR" dirty="0"/>
              <a:t> </a:t>
            </a:r>
            <a:r>
              <a:rPr lang="tr-TR" dirty="0" err="1"/>
              <a:t>increases</a:t>
            </a:r>
            <a:r>
              <a:rPr lang="tr-TR" dirty="0"/>
              <a:t> as </a:t>
            </a:r>
            <a:r>
              <a:rPr lang="tr-TR" dirty="0" err="1"/>
              <a:t>pages</a:t>
            </a:r>
            <a:r>
              <a:rPr lang="tr-TR" dirty="0"/>
              <a:t> </a:t>
            </a:r>
            <a:r>
              <a:rPr lang="tr-TR" dirty="0" err="1"/>
              <a:t>viewed</a:t>
            </a:r>
            <a:r>
              <a:rPr lang="tr-TR" dirty="0"/>
              <a:t> </a:t>
            </a:r>
            <a:r>
              <a:rPr lang="tr-TR" dirty="0" err="1"/>
              <a:t>increases</a:t>
            </a:r>
            <a:r>
              <a:rPr lang="tr-TR" dirty="0"/>
              <a:t>.</a:t>
            </a:r>
          </a:p>
          <a:p>
            <a:pPr marL="285750" indent="-285750">
              <a:buClr>
                <a:schemeClr val="accent1"/>
              </a:buClr>
              <a:buFont typeface="Arial" panose="020B0604020202020204" pitchFamily="34" charset="0"/>
              <a:buChar char="•"/>
            </a:pPr>
            <a:endParaRPr lang="tr-TR" dirty="0"/>
          </a:p>
          <a:p>
            <a:pPr marL="285750" indent="-285750">
              <a:buClr>
                <a:schemeClr val="accent1"/>
              </a:buClr>
              <a:buFont typeface="Arial" panose="020B0604020202020204" pitchFamily="34" charset="0"/>
              <a:buChar char="•"/>
            </a:pPr>
            <a:r>
              <a:rPr lang="tr-TR" dirty="0"/>
              <a:t>But as </a:t>
            </a:r>
            <a:r>
              <a:rPr lang="tr-TR" dirty="0" err="1"/>
              <a:t>we</a:t>
            </a:r>
            <a:r>
              <a:rPr lang="tr-TR" dirty="0"/>
              <a:t> can </a:t>
            </a:r>
            <a:r>
              <a:rPr lang="tr-TR" dirty="0" err="1"/>
              <a:t>see</a:t>
            </a:r>
            <a:r>
              <a:rPr lang="tr-TR" dirty="0"/>
              <a:t> </a:t>
            </a:r>
            <a:r>
              <a:rPr lang="tr-TR" dirty="0" err="1"/>
              <a:t>from</a:t>
            </a:r>
            <a:r>
              <a:rPr lang="tr-TR" dirty="0"/>
              <a:t> </a:t>
            </a:r>
            <a:r>
              <a:rPr lang="tr-TR" dirty="0" err="1"/>
              <a:t>the</a:t>
            </a:r>
            <a:r>
              <a:rPr lang="tr-TR" dirty="0"/>
              <a:t> </a:t>
            </a:r>
            <a:r>
              <a:rPr lang="tr-TR" dirty="0" err="1"/>
              <a:t>nonlinear</a:t>
            </a:r>
            <a:r>
              <a:rPr lang="tr-TR" dirty="0"/>
              <a:t> </a:t>
            </a:r>
            <a:r>
              <a:rPr lang="tr-TR" dirty="0" err="1"/>
              <a:t>correlation</a:t>
            </a:r>
            <a:r>
              <a:rPr lang="tr-TR" dirty="0"/>
              <a:t> </a:t>
            </a:r>
            <a:r>
              <a:rPr lang="tr-TR" dirty="0" err="1"/>
              <a:t>lines</a:t>
            </a:r>
            <a:r>
              <a:rPr lang="tr-TR" dirty="0"/>
              <a:t> </a:t>
            </a:r>
            <a:r>
              <a:rPr lang="tr-TR" dirty="0" err="1"/>
              <a:t>for</a:t>
            </a:r>
            <a:r>
              <a:rPr lang="tr-TR" dirty="0"/>
              <a:t> mobile </a:t>
            </a:r>
            <a:r>
              <a:rPr lang="tr-TR" dirty="0" err="1"/>
              <a:t>and</a:t>
            </a:r>
            <a:r>
              <a:rPr lang="tr-TR" dirty="0"/>
              <a:t> tablet </a:t>
            </a:r>
            <a:r>
              <a:rPr lang="tr-TR" dirty="0" err="1"/>
              <a:t>the</a:t>
            </a:r>
            <a:r>
              <a:rPr lang="tr-TR" dirty="0"/>
              <a:t> s</a:t>
            </a:r>
            <a:r>
              <a:rPr lang="en-US" dirty="0"/>
              <a:t>pending is maximized not by viewing the most pages</a:t>
            </a:r>
            <a:r>
              <a:rPr lang="tr-TR" dirty="0"/>
              <a:t>, </a:t>
            </a:r>
            <a:r>
              <a:rPr lang="tr-TR" dirty="0" err="1"/>
              <a:t>instead</a:t>
            </a:r>
            <a:r>
              <a:rPr lang="tr-TR" dirty="0"/>
              <a:t> </a:t>
            </a:r>
            <a:r>
              <a:rPr lang="tr-TR" dirty="0" err="1"/>
              <a:t>viewing</a:t>
            </a:r>
            <a:r>
              <a:rPr lang="tr-TR" dirty="0"/>
              <a:t> </a:t>
            </a:r>
            <a:r>
              <a:rPr lang="en-US" dirty="0"/>
              <a:t>an optimal number</a:t>
            </a:r>
            <a:r>
              <a:rPr lang="tr-TR" dirty="0"/>
              <a:t> of </a:t>
            </a:r>
            <a:r>
              <a:rPr lang="tr-TR" dirty="0" err="1"/>
              <a:t>pages</a:t>
            </a:r>
            <a:r>
              <a:rPr lang="tr-TR" dirty="0"/>
              <a:t>. </a:t>
            </a:r>
          </a:p>
        </p:txBody>
      </p:sp>
      <p:sp>
        <p:nvSpPr>
          <p:cNvPr id="13" name="Metin kutusu 12"/>
          <p:cNvSpPr txBox="1"/>
          <p:nvPr/>
        </p:nvSpPr>
        <p:spPr>
          <a:xfrm>
            <a:off x="1036319" y="5748859"/>
            <a:ext cx="9692641" cy="646331"/>
          </a:xfrm>
          <a:prstGeom prst="rect">
            <a:avLst/>
          </a:prstGeom>
          <a:noFill/>
        </p:spPr>
        <p:txBody>
          <a:bodyPr wrap="square" rtlCol="0">
            <a:spAutoFit/>
          </a:bodyPr>
          <a:lstStyle/>
          <a:p>
            <a:r>
              <a:rPr lang="tr-TR" b="1" dirty="0" err="1"/>
              <a:t>So</a:t>
            </a:r>
            <a:r>
              <a:rPr lang="tr-TR" b="1" dirty="0"/>
              <a:t> </a:t>
            </a:r>
            <a:r>
              <a:rPr lang="tr-TR" b="1" dirty="0" err="1"/>
              <a:t>there</a:t>
            </a:r>
            <a:r>
              <a:rPr lang="tr-TR" b="1" dirty="0"/>
              <a:t> is a </a:t>
            </a:r>
            <a:r>
              <a:rPr lang="tr-TR" b="1" dirty="0" err="1"/>
              <a:t>sweet</a:t>
            </a:r>
            <a:r>
              <a:rPr lang="tr-TR" b="1" dirty="0"/>
              <a:t> spot </a:t>
            </a:r>
            <a:r>
              <a:rPr lang="tr-TR" b="1" dirty="0" err="1"/>
              <a:t>for</a:t>
            </a:r>
            <a:r>
              <a:rPr lang="tr-TR" b="1" dirty="0"/>
              <a:t> </a:t>
            </a:r>
            <a:r>
              <a:rPr lang="tr-TR" b="1" dirty="0" err="1"/>
              <a:t>average</a:t>
            </a:r>
            <a:r>
              <a:rPr lang="tr-TR" b="1" dirty="0"/>
              <a:t> </a:t>
            </a:r>
            <a:r>
              <a:rPr lang="tr-TR" b="1" dirty="0" err="1"/>
              <a:t>spend</a:t>
            </a:r>
            <a:r>
              <a:rPr lang="tr-TR" b="1" dirty="0"/>
              <a:t> </a:t>
            </a:r>
            <a:r>
              <a:rPr lang="tr-TR" b="1" dirty="0" err="1"/>
              <a:t>for</a:t>
            </a:r>
            <a:r>
              <a:rPr lang="tr-TR" b="1" dirty="0"/>
              <a:t> mobile</a:t>
            </a:r>
            <a:r>
              <a:rPr lang="tr-TR" sz="1400" b="1" i="1" dirty="0"/>
              <a:t>(</a:t>
            </a:r>
            <a:r>
              <a:rPr lang="tr-TR" sz="1400" b="1" i="1" dirty="0" err="1"/>
              <a:t>around</a:t>
            </a:r>
            <a:r>
              <a:rPr lang="tr-TR" sz="1400" b="1" i="1" dirty="0"/>
              <a:t> 9 </a:t>
            </a:r>
            <a:r>
              <a:rPr lang="tr-TR" sz="1400" b="1" i="1" dirty="0" err="1"/>
              <a:t>pages</a:t>
            </a:r>
            <a:r>
              <a:rPr lang="tr-TR" sz="1400" b="1" i="1" dirty="0"/>
              <a:t>) </a:t>
            </a:r>
            <a:r>
              <a:rPr lang="tr-TR" b="1" dirty="0" err="1"/>
              <a:t>and</a:t>
            </a:r>
            <a:r>
              <a:rPr lang="tr-TR" b="1" dirty="0"/>
              <a:t> tablet</a:t>
            </a:r>
            <a:r>
              <a:rPr lang="tr-TR" sz="1400" b="1" i="1" dirty="0"/>
              <a:t>(</a:t>
            </a:r>
            <a:r>
              <a:rPr lang="tr-TR" sz="1400" b="1" i="1" dirty="0" err="1"/>
              <a:t>around</a:t>
            </a:r>
            <a:r>
              <a:rPr lang="tr-TR" sz="1400" b="1" i="1" dirty="0"/>
              <a:t> 10 </a:t>
            </a:r>
            <a:r>
              <a:rPr lang="tr-TR" sz="1400" b="1" i="1" dirty="0" err="1"/>
              <a:t>pages</a:t>
            </a:r>
            <a:r>
              <a:rPr lang="tr-TR" sz="1400" b="1" i="1" dirty="0"/>
              <a:t>)</a:t>
            </a:r>
          </a:p>
          <a:p>
            <a:r>
              <a:rPr lang="tr-TR" b="1" dirty="0"/>
              <a:t>but </a:t>
            </a:r>
            <a:r>
              <a:rPr lang="tr-TR" b="1" dirty="0" err="1"/>
              <a:t>desktop’s</a:t>
            </a:r>
            <a:r>
              <a:rPr lang="tr-TR" b="1" dirty="0"/>
              <a:t> </a:t>
            </a:r>
            <a:r>
              <a:rPr lang="tr-TR" b="1" dirty="0" err="1"/>
              <a:t>average</a:t>
            </a:r>
            <a:r>
              <a:rPr lang="tr-TR" b="1" dirty="0"/>
              <a:t> </a:t>
            </a:r>
            <a:r>
              <a:rPr lang="tr-TR" b="1" dirty="0" err="1"/>
              <a:t>spend</a:t>
            </a:r>
            <a:r>
              <a:rPr lang="tr-TR" b="1" dirty="0"/>
              <a:t> </a:t>
            </a:r>
            <a:r>
              <a:rPr lang="tr-TR" b="1" dirty="0" err="1"/>
              <a:t>increases</a:t>
            </a:r>
            <a:r>
              <a:rPr lang="tr-TR" b="1" dirty="0"/>
              <a:t> as </a:t>
            </a:r>
            <a:r>
              <a:rPr lang="tr-TR" b="1" dirty="0" err="1"/>
              <a:t>the</a:t>
            </a:r>
            <a:r>
              <a:rPr lang="tr-TR" b="1" dirty="0"/>
              <a:t> </a:t>
            </a:r>
            <a:r>
              <a:rPr lang="tr-TR" b="1" dirty="0" err="1"/>
              <a:t>pages</a:t>
            </a:r>
            <a:r>
              <a:rPr lang="tr-TR" b="1" dirty="0"/>
              <a:t> </a:t>
            </a:r>
            <a:r>
              <a:rPr lang="tr-TR" b="1" dirty="0" err="1"/>
              <a:t>viewed</a:t>
            </a:r>
            <a:r>
              <a:rPr lang="tr-TR" b="1" dirty="0"/>
              <a:t> </a:t>
            </a:r>
            <a:r>
              <a:rPr lang="tr-TR" b="1" dirty="0" err="1"/>
              <a:t>increases</a:t>
            </a:r>
            <a:r>
              <a:rPr lang="tr-TR" b="1" dirty="0"/>
              <a:t> </a:t>
            </a:r>
            <a:r>
              <a:rPr lang="tr-TR" b="1" dirty="0" err="1"/>
              <a:t>therefore</a:t>
            </a:r>
            <a:r>
              <a:rPr lang="tr-TR" b="1" dirty="0"/>
              <a:t> it has </a:t>
            </a:r>
            <a:r>
              <a:rPr lang="tr-TR" b="1" dirty="0" err="1"/>
              <a:t>no</a:t>
            </a:r>
            <a:r>
              <a:rPr lang="tr-TR" b="1" dirty="0"/>
              <a:t> </a:t>
            </a:r>
            <a:r>
              <a:rPr lang="tr-TR" b="1" dirty="0" err="1"/>
              <a:t>sweet</a:t>
            </a:r>
            <a:r>
              <a:rPr lang="tr-TR" b="1" dirty="0"/>
              <a:t> spot.</a:t>
            </a:r>
          </a:p>
        </p:txBody>
      </p:sp>
    </p:spTree>
    <p:extLst>
      <p:ext uri="{BB962C8B-B14F-4D97-AF65-F5344CB8AC3E}">
        <p14:creationId xmlns:p14="http://schemas.microsoft.com/office/powerpoint/2010/main" val="2372187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C0048-12DE-02BF-0C3A-A538EC1AF4E0}"/>
            </a:ext>
          </a:extLst>
        </p:cNvPr>
        <p:cNvGrpSpPr/>
        <p:nvPr/>
      </p:nvGrpSpPr>
      <p:grpSpPr>
        <a:xfrm>
          <a:off x="0" y="0"/>
          <a:ext cx="0" cy="0"/>
          <a:chOff x="0" y="0"/>
          <a:chExt cx="0" cy="0"/>
        </a:xfrm>
      </p:grpSpPr>
      <p:sp>
        <p:nvSpPr>
          <p:cNvPr id="7" name="Metin kutusu 6">
            <a:extLst>
              <a:ext uri="{FF2B5EF4-FFF2-40B4-BE49-F238E27FC236}">
                <a16:creationId xmlns:a16="http://schemas.microsoft.com/office/drawing/2014/main" id="{99962233-4845-69C8-5E29-F048EA52BDB1}"/>
              </a:ext>
            </a:extLst>
          </p:cNvPr>
          <p:cNvSpPr txBox="1"/>
          <p:nvPr/>
        </p:nvSpPr>
        <p:spPr>
          <a:xfrm>
            <a:off x="3419037" y="147361"/>
            <a:ext cx="3660682" cy="369332"/>
          </a:xfrm>
          <a:prstGeom prst="rect">
            <a:avLst/>
          </a:prstGeom>
          <a:noFill/>
        </p:spPr>
        <p:txBody>
          <a:bodyPr wrap="none" rtlCol="0">
            <a:spAutoFit/>
          </a:bodyPr>
          <a:lstStyle/>
          <a:p>
            <a:r>
              <a:rPr lang="en-US" dirty="0"/>
              <a:t>FINANCIAL &amp; MARKETİN STRATEGY</a:t>
            </a:r>
          </a:p>
        </p:txBody>
      </p:sp>
      <p:sp>
        <p:nvSpPr>
          <p:cNvPr id="12" name="Metin kutusu 11">
            <a:extLst>
              <a:ext uri="{FF2B5EF4-FFF2-40B4-BE49-F238E27FC236}">
                <a16:creationId xmlns:a16="http://schemas.microsoft.com/office/drawing/2014/main" id="{B388F77D-CD34-3DBE-96F9-6820BE538A1A}"/>
              </a:ext>
            </a:extLst>
          </p:cNvPr>
          <p:cNvSpPr txBox="1"/>
          <p:nvPr/>
        </p:nvSpPr>
        <p:spPr>
          <a:xfrm>
            <a:off x="7079719" y="1541417"/>
            <a:ext cx="4168730" cy="3139321"/>
          </a:xfrm>
          <a:prstGeom prst="rect">
            <a:avLst/>
          </a:prstGeom>
          <a:noFill/>
        </p:spPr>
        <p:txBody>
          <a:bodyPr wrap="square" rtlCol="0">
            <a:spAutoFit/>
          </a:bodyPr>
          <a:lstStyle/>
          <a:p>
            <a:r>
              <a:rPr lang="en-US" dirty="0"/>
              <a:t>  RQ: Does offering a higher discount amount lead to a larger Basket size (Quantity, and does this strategy work better for Fashion vs. Electronics?</a:t>
            </a:r>
          </a:p>
          <a:p>
            <a:endParaRPr lang="en-US" dirty="0"/>
          </a:p>
          <a:p>
            <a:r>
              <a:rPr lang="en-US" dirty="0"/>
              <a:t>Goal: Determine if discounts drive volume or just reduce margin.</a:t>
            </a:r>
          </a:p>
          <a:p>
            <a:endParaRPr lang="en-US" dirty="0"/>
          </a:p>
          <a:p>
            <a:r>
              <a:rPr lang="en-US" dirty="0"/>
              <a:t>Variables: </a:t>
            </a:r>
            <a:r>
              <a:rPr lang="en-US" dirty="0" err="1"/>
              <a:t>Discount_Amount</a:t>
            </a:r>
            <a:r>
              <a:rPr lang="en-US" dirty="0"/>
              <a:t>, Quantity, </a:t>
            </a:r>
            <a:r>
              <a:rPr lang="en-US" dirty="0" err="1"/>
              <a:t>Product_Category</a:t>
            </a:r>
            <a:endParaRPr lang="en-US" dirty="0"/>
          </a:p>
          <a:p>
            <a:pPr>
              <a:buClr>
                <a:schemeClr val="accent1"/>
              </a:buClr>
            </a:pPr>
            <a:r>
              <a:rPr lang="tr-TR" dirty="0"/>
              <a:t>. </a:t>
            </a:r>
          </a:p>
        </p:txBody>
      </p:sp>
      <p:sp>
        <p:nvSpPr>
          <p:cNvPr id="13" name="Metin kutusu 12">
            <a:extLst>
              <a:ext uri="{FF2B5EF4-FFF2-40B4-BE49-F238E27FC236}">
                <a16:creationId xmlns:a16="http://schemas.microsoft.com/office/drawing/2014/main" id="{C39765D0-B440-8D3F-DF35-1448197FB1B2}"/>
              </a:ext>
            </a:extLst>
          </p:cNvPr>
          <p:cNvSpPr txBox="1"/>
          <p:nvPr/>
        </p:nvSpPr>
        <p:spPr>
          <a:xfrm>
            <a:off x="1036318" y="5380672"/>
            <a:ext cx="9692641" cy="1477328"/>
          </a:xfrm>
          <a:prstGeom prst="rect">
            <a:avLst/>
          </a:prstGeom>
          <a:noFill/>
        </p:spPr>
        <p:txBody>
          <a:bodyPr wrap="square" rtlCol="0">
            <a:spAutoFit/>
          </a:bodyPr>
          <a:lstStyle/>
          <a:p>
            <a:r>
              <a:rPr lang="en-US" dirty="0"/>
              <a:t> Interpretation: This is a bubble chart. It shows the relationship between two numeric and one categoric variables. Discount amount represented by bubble size. As we see the graph electronic products have most discount amount. Books and Food have less ones. Also, </a:t>
            </a:r>
            <a:r>
              <a:rPr lang="en-US" dirty="0" err="1"/>
              <a:t>quanity</a:t>
            </a:r>
            <a:r>
              <a:rPr lang="en-US" dirty="0"/>
              <a:t> amount is represented by color tone, which means darkest blue have most quantity. In this graph sports have most quantity and books have less quantity.</a:t>
            </a:r>
          </a:p>
        </p:txBody>
      </p:sp>
      <p:pic>
        <p:nvPicPr>
          <p:cNvPr id="3" name="Picture 2">
            <a:extLst>
              <a:ext uri="{FF2B5EF4-FFF2-40B4-BE49-F238E27FC236}">
                <a16:creationId xmlns:a16="http://schemas.microsoft.com/office/drawing/2014/main" id="{134A0D21-A077-DFEE-7758-910B6CB4E821}"/>
              </a:ext>
            </a:extLst>
          </p:cNvPr>
          <p:cNvPicPr>
            <a:picLocks noChangeAspect="1"/>
          </p:cNvPicPr>
          <p:nvPr/>
        </p:nvPicPr>
        <p:blipFill>
          <a:blip r:embed="rId2"/>
          <a:stretch>
            <a:fillRect/>
          </a:stretch>
        </p:blipFill>
        <p:spPr>
          <a:xfrm>
            <a:off x="1883410" y="1216627"/>
            <a:ext cx="3771900" cy="3911600"/>
          </a:xfrm>
          <a:prstGeom prst="rect">
            <a:avLst/>
          </a:prstGeom>
        </p:spPr>
      </p:pic>
      <p:pic>
        <p:nvPicPr>
          <p:cNvPr id="2" name="Picture 1">
            <a:extLst>
              <a:ext uri="{FF2B5EF4-FFF2-40B4-BE49-F238E27FC236}">
                <a16:creationId xmlns:a16="http://schemas.microsoft.com/office/drawing/2014/main" id="{637C179A-B7EA-7BBD-2BDF-8D56EE3285C6}"/>
              </a:ext>
            </a:extLst>
          </p:cNvPr>
          <p:cNvPicPr>
            <a:picLocks noChangeAspect="1"/>
          </p:cNvPicPr>
          <p:nvPr/>
        </p:nvPicPr>
        <p:blipFill>
          <a:blip r:embed="rId3"/>
          <a:stretch>
            <a:fillRect/>
          </a:stretch>
        </p:blipFill>
        <p:spPr>
          <a:xfrm>
            <a:off x="4711700" y="1123950"/>
            <a:ext cx="1384300" cy="495300"/>
          </a:xfrm>
          <a:prstGeom prst="rect">
            <a:avLst/>
          </a:prstGeom>
        </p:spPr>
      </p:pic>
    </p:spTree>
    <p:extLst>
      <p:ext uri="{BB962C8B-B14F-4D97-AF65-F5344CB8AC3E}">
        <p14:creationId xmlns:p14="http://schemas.microsoft.com/office/powerpoint/2010/main" val="611585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etin kutusu 6"/>
          <p:cNvSpPr txBox="1"/>
          <p:nvPr/>
        </p:nvSpPr>
        <p:spPr>
          <a:xfrm>
            <a:off x="1723439" y="237099"/>
            <a:ext cx="6912405" cy="646331"/>
          </a:xfrm>
          <a:prstGeom prst="rect">
            <a:avLst/>
          </a:prstGeom>
          <a:noFill/>
        </p:spPr>
        <p:txBody>
          <a:bodyPr wrap="none" rtlCol="0">
            <a:spAutoFit/>
          </a:bodyPr>
          <a:lstStyle/>
          <a:p>
            <a:r>
              <a:rPr lang="en-US" dirty="0"/>
              <a:t>  Which product Categories generate the most Total Revenue, </a:t>
            </a:r>
          </a:p>
          <a:p>
            <a:r>
              <a:rPr lang="en-US" dirty="0"/>
              <a:t>and is there a significant difference in preference between Genders?</a:t>
            </a:r>
          </a:p>
        </p:txBody>
      </p:sp>
      <p:sp>
        <p:nvSpPr>
          <p:cNvPr id="12" name="Metin kutusu 11"/>
          <p:cNvSpPr txBox="1"/>
          <p:nvPr/>
        </p:nvSpPr>
        <p:spPr>
          <a:xfrm>
            <a:off x="7079719" y="1541417"/>
            <a:ext cx="4168730" cy="3139321"/>
          </a:xfrm>
          <a:prstGeom prst="rect">
            <a:avLst/>
          </a:prstGeom>
          <a:noFill/>
        </p:spPr>
        <p:txBody>
          <a:bodyPr wrap="square" rtlCol="0">
            <a:spAutoFit/>
          </a:bodyPr>
          <a:lstStyle/>
          <a:p>
            <a:r>
              <a:rPr lang="en-US" dirty="0"/>
              <a:t>  RQ: Which product Categories generate the most Total Revenue, and is there a significant difference in preference between Genders?</a:t>
            </a:r>
          </a:p>
          <a:p>
            <a:endParaRPr lang="en-US" dirty="0"/>
          </a:p>
          <a:p>
            <a:r>
              <a:rPr lang="en-US" dirty="0"/>
              <a:t>Goal: Identify “Cash Cow” products and target audience segments.</a:t>
            </a:r>
          </a:p>
          <a:p>
            <a:endParaRPr lang="en-US" dirty="0"/>
          </a:p>
          <a:p>
            <a:r>
              <a:rPr lang="en-US" dirty="0"/>
              <a:t>Variables: </a:t>
            </a:r>
            <a:r>
              <a:rPr lang="en-US" dirty="0" err="1"/>
              <a:t>Product_Category</a:t>
            </a:r>
            <a:r>
              <a:rPr lang="en-US" dirty="0"/>
              <a:t>, </a:t>
            </a:r>
            <a:r>
              <a:rPr lang="en-US" dirty="0" err="1"/>
              <a:t>Total_Amount</a:t>
            </a:r>
            <a:r>
              <a:rPr lang="en-US" dirty="0"/>
              <a:t>, Gender</a:t>
            </a:r>
          </a:p>
          <a:p>
            <a:pPr>
              <a:buClr>
                <a:schemeClr val="accent1"/>
              </a:buClr>
            </a:pPr>
            <a:r>
              <a:rPr lang="tr-TR" dirty="0"/>
              <a:t>. </a:t>
            </a:r>
          </a:p>
        </p:txBody>
      </p:sp>
      <p:sp>
        <p:nvSpPr>
          <p:cNvPr id="13" name="Metin kutusu 12"/>
          <p:cNvSpPr txBox="1"/>
          <p:nvPr/>
        </p:nvSpPr>
        <p:spPr>
          <a:xfrm>
            <a:off x="1036318" y="5461424"/>
            <a:ext cx="9692641" cy="1477328"/>
          </a:xfrm>
          <a:prstGeom prst="rect">
            <a:avLst/>
          </a:prstGeom>
          <a:noFill/>
        </p:spPr>
        <p:txBody>
          <a:bodyPr wrap="square" rtlCol="0">
            <a:spAutoFit/>
          </a:bodyPr>
          <a:lstStyle/>
          <a:p>
            <a:r>
              <a:rPr lang="en-US" dirty="0"/>
              <a:t> Interpretation: It is a Stacked bar chart. It indicates relationship between 2 categoric and 1 numeric variable. Gender represents colors blue, orange and red. As we see electronic products have more total amount than others. Moreover, among the renders electronic products are most preferred. If we look distribution of the graph male and female share products almost equally proportion. However, male are slightly more in food and books classes.</a:t>
            </a:r>
          </a:p>
        </p:txBody>
      </p:sp>
      <p:pic>
        <p:nvPicPr>
          <p:cNvPr id="2" name="Picture 1">
            <a:extLst>
              <a:ext uri="{FF2B5EF4-FFF2-40B4-BE49-F238E27FC236}">
                <a16:creationId xmlns:a16="http://schemas.microsoft.com/office/drawing/2014/main" id="{2628B3AD-84D6-D237-CD03-75447E237D5C}"/>
              </a:ext>
            </a:extLst>
          </p:cNvPr>
          <p:cNvPicPr>
            <a:picLocks noChangeAspect="1"/>
          </p:cNvPicPr>
          <p:nvPr/>
        </p:nvPicPr>
        <p:blipFill>
          <a:blip r:embed="rId2"/>
          <a:stretch>
            <a:fillRect/>
          </a:stretch>
        </p:blipFill>
        <p:spPr>
          <a:xfrm>
            <a:off x="1036318" y="1420253"/>
            <a:ext cx="5344161" cy="3689014"/>
          </a:xfrm>
          <a:prstGeom prst="rect">
            <a:avLst/>
          </a:prstGeom>
        </p:spPr>
      </p:pic>
      <p:pic>
        <p:nvPicPr>
          <p:cNvPr id="3" name="Picture 2">
            <a:extLst>
              <a:ext uri="{FF2B5EF4-FFF2-40B4-BE49-F238E27FC236}">
                <a16:creationId xmlns:a16="http://schemas.microsoft.com/office/drawing/2014/main" id="{B15A4EAD-7148-60BA-E8FA-0E9D671A2E06}"/>
              </a:ext>
            </a:extLst>
          </p:cNvPr>
          <p:cNvPicPr>
            <a:picLocks noChangeAspect="1"/>
          </p:cNvPicPr>
          <p:nvPr/>
        </p:nvPicPr>
        <p:blipFill>
          <a:blip r:embed="rId3"/>
          <a:stretch>
            <a:fillRect/>
          </a:stretch>
        </p:blipFill>
        <p:spPr>
          <a:xfrm>
            <a:off x="5740400" y="1508760"/>
            <a:ext cx="711200" cy="762000"/>
          </a:xfrm>
          <a:prstGeom prst="rect">
            <a:avLst/>
          </a:prstGeom>
        </p:spPr>
      </p:pic>
    </p:spTree>
    <p:extLst>
      <p:ext uri="{BB962C8B-B14F-4D97-AF65-F5344CB8AC3E}">
        <p14:creationId xmlns:p14="http://schemas.microsoft.com/office/powerpoint/2010/main" val="330633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DFE3C-1231-BC0B-B492-4E8BE3C04608}"/>
            </a:ext>
          </a:extLst>
        </p:cNvPr>
        <p:cNvGrpSpPr/>
        <p:nvPr/>
      </p:nvGrpSpPr>
      <p:grpSpPr>
        <a:xfrm>
          <a:off x="0" y="0"/>
          <a:ext cx="0" cy="0"/>
          <a:chOff x="0" y="0"/>
          <a:chExt cx="0" cy="0"/>
        </a:xfrm>
      </p:grpSpPr>
      <p:sp>
        <p:nvSpPr>
          <p:cNvPr id="7" name="Metin kutusu 6">
            <a:extLst>
              <a:ext uri="{FF2B5EF4-FFF2-40B4-BE49-F238E27FC236}">
                <a16:creationId xmlns:a16="http://schemas.microsoft.com/office/drawing/2014/main" id="{9DC6A5A9-24A2-C15C-2631-B37CBDA78E0A}"/>
              </a:ext>
            </a:extLst>
          </p:cNvPr>
          <p:cNvSpPr txBox="1"/>
          <p:nvPr/>
        </p:nvSpPr>
        <p:spPr>
          <a:xfrm>
            <a:off x="2749519" y="305282"/>
            <a:ext cx="6379503" cy="369332"/>
          </a:xfrm>
          <a:prstGeom prst="rect">
            <a:avLst/>
          </a:prstGeom>
          <a:noFill/>
        </p:spPr>
        <p:txBody>
          <a:bodyPr wrap="none" rtlCol="0">
            <a:spAutoFit/>
          </a:bodyPr>
          <a:lstStyle/>
          <a:p>
            <a:r>
              <a:rPr lang="en-US" dirty="0"/>
              <a:t>How significantly does Delivery Time impact Customer Rating?</a:t>
            </a:r>
          </a:p>
        </p:txBody>
      </p:sp>
      <p:sp>
        <p:nvSpPr>
          <p:cNvPr id="13" name="Metin kutusu 12">
            <a:extLst>
              <a:ext uri="{FF2B5EF4-FFF2-40B4-BE49-F238E27FC236}">
                <a16:creationId xmlns:a16="http://schemas.microsoft.com/office/drawing/2014/main" id="{12690602-9F66-58C3-7E05-4E2775D665C5}"/>
              </a:ext>
            </a:extLst>
          </p:cNvPr>
          <p:cNvSpPr txBox="1"/>
          <p:nvPr/>
        </p:nvSpPr>
        <p:spPr>
          <a:xfrm>
            <a:off x="956082" y="5103674"/>
            <a:ext cx="9692641" cy="1754326"/>
          </a:xfrm>
          <a:prstGeom prst="rect">
            <a:avLst/>
          </a:prstGeom>
          <a:noFill/>
        </p:spPr>
        <p:txBody>
          <a:bodyPr wrap="square" rtlCol="0">
            <a:spAutoFit/>
          </a:bodyPr>
          <a:lstStyle/>
          <a:p>
            <a:r>
              <a:rPr lang="en-US" dirty="0"/>
              <a:t> Interpretation: For standard deliveries (0-2 weeks), New and Returning customers are equally happy. However, when operational disasters happen and delivery takes 19+ days, New Customers (Blue line) react negatively, dropping their ratings sharply.  In contrast, Returning Customers (Orange line) show higher patience. Even at 19-23 days of delay, their satisfaction remains relatively stable around 3.6 to 4.0. They trust the brand enough to forgive a single bad experience, whereas New Customers do not.</a:t>
            </a:r>
          </a:p>
        </p:txBody>
      </p:sp>
      <p:pic>
        <p:nvPicPr>
          <p:cNvPr id="3" name="Picture 2">
            <a:extLst>
              <a:ext uri="{FF2B5EF4-FFF2-40B4-BE49-F238E27FC236}">
                <a16:creationId xmlns:a16="http://schemas.microsoft.com/office/drawing/2014/main" id="{BF68ECB2-61B0-D708-524F-F777A50F46C5}"/>
              </a:ext>
            </a:extLst>
          </p:cNvPr>
          <p:cNvPicPr>
            <a:picLocks noChangeAspect="1"/>
          </p:cNvPicPr>
          <p:nvPr/>
        </p:nvPicPr>
        <p:blipFill>
          <a:blip r:embed="rId2"/>
          <a:stretch>
            <a:fillRect/>
          </a:stretch>
        </p:blipFill>
        <p:spPr>
          <a:xfrm>
            <a:off x="956082" y="1237995"/>
            <a:ext cx="6241637" cy="3660047"/>
          </a:xfrm>
          <a:prstGeom prst="rect">
            <a:avLst/>
          </a:prstGeom>
        </p:spPr>
      </p:pic>
      <p:sp>
        <p:nvSpPr>
          <p:cNvPr id="10" name="Rectangle 6">
            <a:extLst>
              <a:ext uri="{FF2B5EF4-FFF2-40B4-BE49-F238E27FC236}">
                <a16:creationId xmlns:a16="http://schemas.microsoft.com/office/drawing/2014/main" id="{54A47939-B8A9-BB5D-0C35-58DF08449232}"/>
              </a:ext>
            </a:extLst>
          </p:cNvPr>
          <p:cNvSpPr>
            <a:spLocks noChangeArrowheads="1"/>
          </p:cNvSpPr>
          <p:nvPr/>
        </p:nvSpPr>
        <p:spPr bwMode="auto">
          <a:xfrm>
            <a:off x="8026400" y="1639275"/>
            <a:ext cx="329051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lang="en-TR" altLang="en-TR" dirty="0">
              <a:solidFill>
                <a:srgbClr val="000000"/>
              </a:solidFill>
              <a:latin typeface="-webkit-standard"/>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TR" altLang="en-TR" sz="1800" b="0" i="0" u="none" strike="noStrike" cap="none" normalizeH="0" baseline="0" dirty="0">
                <a:ln>
                  <a:noFill/>
                </a:ln>
                <a:solidFill>
                  <a:srgbClr val="000000"/>
                </a:solidFill>
                <a:effectLst/>
                <a:latin typeface="-webkit-standard"/>
              </a:rPr>
              <a:t>-Delivery time </a:t>
            </a:r>
            <a:r>
              <a:rPr kumimoji="0" lang="en-TR" altLang="en-TR" sz="1800" b="0" i="1" u="none" strike="noStrike" cap="none" normalizeH="0" baseline="0" dirty="0">
                <a:ln>
                  <a:noFill/>
                </a:ln>
                <a:solidFill>
                  <a:srgbClr val="000000"/>
                </a:solidFill>
                <a:effectLst/>
              </a:rPr>
              <a:t>doesn't</a:t>
            </a:r>
            <a:r>
              <a:rPr kumimoji="0" lang="en-TR" altLang="en-TR" sz="1800" b="0" i="0" u="none" strike="noStrike" cap="none" normalizeH="0" baseline="0" dirty="0">
                <a:ln>
                  <a:noFill/>
                </a:ln>
                <a:solidFill>
                  <a:srgbClr val="000000"/>
                </a:solidFill>
                <a:effectLst/>
                <a:latin typeface="-webkit-standard"/>
              </a:rPr>
              <a:t> strictly hurt ratings until it gets very long (20+ days).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TR" altLang="en-TR" sz="1800" b="0" i="0" u="none" strike="noStrike" cap="none" normalizeH="0" baseline="0" dirty="0">
              <a:ln>
                <a:noFill/>
              </a:ln>
              <a:solidFill>
                <a:srgbClr val="000000"/>
              </a:solidFill>
              <a:effectLst/>
              <a:latin typeface="-webkit-standard"/>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TR" altLang="en-TR" sz="1800" b="0" i="0" u="none" strike="noStrike" cap="none" normalizeH="0" baseline="0" dirty="0">
                <a:ln>
                  <a:noFill/>
                </a:ln>
                <a:solidFill>
                  <a:srgbClr val="000000"/>
                </a:solidFill>
                <a:effectLst/>
                <a:latin typeface="-webkit-standard"/>
              </a:rPr>
              <a:t>-People seem patient for the first 1-2 weeks</a:t>
            </a:r>
            <a:endParaRPr kumimoji="0" lang="en-TR" altLang="en-T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24263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FC27A-9EDA-0B14-65B5-39AFC1AEB001}"/>
            </a:ext>
          </a:extLst>
        </p:cNvPr>
        <p:cNvGrpSpPr/>
        <p:nvPr/>
      </p:nvGrpSpPr>
      <p:grpSpPr>
        <a:xfrm>
          <a:off x="0" y="0"/>
          <a:ext cx="0" cy="0"/>
          <a:chOff x="0" y="0"/>
          <a:chExt cx="0" cy="0"/>
        </a:xfrm>
      </p:grpSpPr>
      <p:sp>
        <p:nvSpPr>
          <p:cNvPr id="7" name="Metin kutusu 6">
            <a:extLst>
              <a:ext uri="{FF2B5EF4-FFF2-40B4-BE49-F238E27FC236}">
                <a16:creationId xmlns:a16="http://schemas.microsoft.com/office/drawing/2014/main" id="{A296D922-83A9-8A3C-1282-E246912DA010}"/>
              </a:ext>
            </a:extLst>
          </p:cNvPr>
          <p:cNvSpPr txBox="1"/>
          <p:nvPr/>
        </p:nvSpPr>
        <p:spPr>
          <a:xfrm>
            <a:off x="3575823" y="177902"/>
            <a:ext cx="5040354" cy="369332"/>
          </a:xfrm>
          <a:prstGeom prst="rect">
            <a:avLst/>
          </a:prstGeom>
          <a:noFill/>
        </p:spPr>
        <p:txBody>
          <a:bodyPr wrap="none" rtlCol="0">
            <a:spAutoFit/>
          </a:bodyPr>
          <a:lstStyle/>
          <a:p>
            <a:r>
              <a:rPr lang="en-US" dirty="0"/>
              <a:t>Which Cities are experiencing the longest delays?</a:t>
            </a:r>
          </a:p>
        </p:txBody>
      </p:sp>
      <p:sp>
        <p:nvSpPr>
          <p:cNvPr id="13" name="Metin kutusu 12">
            <a:extLst>
              <a:ext uri="{FF2B5EF4-FFF2-40B4-BE49-F238E27FC236}">
                <a16:creationId xmlns:a16="http://schemas.microsoft.com/office/drawing/2014/main" id="{1E9B79FA-E282-A9E5-A302-46738D3FABA5}"/>
              </a:ext>
            </a:extLst>
          </p:cNvPr>
          <p:cNvSpPr txBox="1"/>
          <p:nvPr/>
        </p:nvSpPr>
        <p:spPr>
          <a:xfrm>
            <a:off x="514052" y="4655013"/>
            <a:ext cx="9692641" cy="2031325"/>
          </a:xfrm>
          <a:prstGeom prst="rect">
            <a:avLst/>
          </a:prstGeom>
          <a:noFill/>
        </p:spPr>
        <p:txBody>
          <a:bodyPr wrap="square" rtlCol="0">
            <a:spAutoFit/>
          </a:bodyPr>
          <a:lstStyle/>
          <a:p>
            <a:r>
              <a:rPr lang="en-US" dirty="0"/>
              <a:t> Interpretation: </a:t>
            </a:r>
          </a:p>
          <a:p>
            <a:endParaRPr lang="en-US" dirty="0"/>
          </a:p>
          <a:p>
            <a:r>
              <a:rPr lang="en-US" dirty="0"/>
              <a:t>-The Bottleneck (Istanbul): Istanbul is the slowest region with an average delivery time of 6.67 days. This is a critical finding because the largest market is receiving the slowest service. </a:t>
            </a:r>
          </a:p>
          <a:p>
            <a:endParaRPr lang="en-US" dirty="0"/>
          </a:p>
          <a:p>
            <a:r>
              <a:rPr lang="en-US" dirty="0"/>
              <a:t> -The Benchmark (Konya): Konya is the most efficient city with an average time of 5.95 days, performing nearly a full day faster than Istanbul.</a:t>
            </a:r>
          </a:p>
        </p:txBody>
      </p:sp>
      <p:pic>
        <p:nvPicPr>
          <p:cNvPr id="4" name="Picture 3">
            <a:extLst>
              <a:ext uri="{FF2B5EF4-FFF2-40B4-BE49-F238E27FC236}">
                <a16:creationId xmlns:a16="http://schemas.microsoft.com/office/drawing/2014/main" id="{C5692583-5A57-66C1-9D4D-F2E965AC5C5B}"/>
              </a:ext>
            </a:extLst>
          </p:cNvPr>
          <p:cNvPicPr>
            <a:picLocks noChangeAspect="1"/>
          </p:cNvPicPr>
          <p:nvPr/>
        </p:nvPicPr>
        <p:blipFill>
          <a:blip r:embed="rId2"/>
          <a:stretch>
            <a:fillRect/>
          </a:stretch>
        </p:blipFill>
        <p:spPr>
          <a:xfrm>
            <a:off x="595332" y="1290142"/>
            <a:ext cx="6484387" cy="3364871"/>
          </a:xfrm>
          <a:prstGeom prst="rect">
            <a:avLst/>
          </a:prstGeom>
        </p:spPr>
      </p:pic>
      <p:sp>
        <p:nvSpPr>
          <p:cNvPr id="5" name="Rectangle 1">
            <a:extLst>
              <a:ext uri="{FF2B5EF4-FFF2-40B4-BE49-F238E27FC236}">
                <a16:creationId xmlns:a16="http://schemas.microsoft.com/office/drawing/2014/main" id="{BA398C33-22D2-419E-38A8-AD17ACF99F2F}"/>
              </a:ext>
            </a:extLst>
          </p:cNvPr>
          <p:cNvSpPr>
            <a:spLocks noChangeArrowheads="1"/>
          </p:cNvSpPr>
          <p:nvPr/>
        </p:nvSpPr>
        <p:spPr bwMode="auto">
          <a:xfrm>
            <a:off x="7461548" y="1699085"/>
            <a:ext cx="427736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TR" altLang="en-TR" sz="1800" b="1" i="0" u="none" strike="noStrike" cap="none" normalizeH="0" baseline="0" dirty="0">
                <a:ln>
                  <a:noFill/>
                </a:ln>
                <a:solidFill>
                  <a:srgbClr val="000000"/>
                </a:solidFill>
                <a:effectLst/>
                <a:latin typeface="Arial" panose="020B0604020202020204" pitchFamily="34" charset="0"/>
              </a:rPr>
              <a:t>Istanbul</a:t>
            </a:r>
            <a:r>
              <a:rPr kumimoji="0" lang="en-TR" altLang="en-TR" sz="1800" b="0" i="0" u="none" strike="noStrike" cap="none" normalizeH="0" baseline="0" dirty="0">
                <a:ln>
                  <a:noFill/>
                </a:ln>
                <a:solidFill>
                  <a:srgbClr val="000000"/>
                </a:solidFill>
                <a:effectLst/>
                <a:latin typeface="-webkit-standard"/>
              </a:rPr>
              <a:t> seems to be the slowest (Avg ~6.67 days), followed closely by </a:t>
            </a:r>
            <a:r>
              <a:rPr kumimoji="0" lang="en-TR" altLang="en-TR" sz="1800" b="1" i="0" u="none" strike="noStrike" cap="none" normalizeH="0" baseline="0" dirty="0">
                <a:ln>
                  <a:noFill/>
                </a:ln>
                <a:solidFill>
                  <a:srgbClr val="000000"/>
                </a:solidFill>
                <a:effectLst/>
              </a:rPr>
              <a:t>Eskisehir</a:t>
            </a:r>
            <a:r>
              <a:rPr kumimoji="0" lang="en-TR" altLang="en-TR" sz="1800" b="0" i="0" u="none" strike="noStrike" cap="none" normalizeH="0" baseline="0" dirty="0">
                <a:ln>
                  <a:noFill/>
                </a:ln>
                <a:solidFill>
                  <a:srgbClr val="000000"/>
                </a:solidFill>
                <a:effectLst/>
                <a:latin typeface="-webkit-standard"/>
              </a:rPr>
              <a:t>. </a:t>
            </a:r>
          </a:p>
        </p:txBody>
      </p:sp>
    </p:spTree>
    <p:extLst>
      <p:ext uri="{BB962C8B-B14F-4D97-AF65-F5344CB8AC3E}">
        <p14:creationId xmlns:p14="http://schemas.microsoft.com/office/powerpoint/2010/main" val="2880538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2" descr="Dashboard 1">
            <a:extLst>
              <a:ext uri="{FF2B5EF4-FFF2-40B4-BE49-F238E27FC236}">
                <a16:creationId xmlns:a16="http://schemas.microsoft.com/office/drawing/2014/main" id="{1BF81A8E-607E-4BBE-8E42-3DF5924739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628"/>
            <a:ext cx="12192000" cy="6850743"/>
          </a:xfrm>
          <a:prstGeom prst="rect">
            <a:avLst/>
          </a:prstGeom>
        </p:spPr>
      </p:pic>
    </p:spTree>
    <p:extLst>
      <p:ext uri="{BB962C8B-B14F-4D97-AF65-F5344CB8AC3E}">
        <p14:creationId xmlns:p14="http://schemas.microsoft.com/office/powerpoint/2010/main" val="959925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
  <TotalTime>44</TotalTime>
  <Words>1143</Words>
  <Application>Microsoft Macintosh PowerPoint</Application>
  <PresentationFormat>Widescreen</PresentationFormat>
  <Paragraphs>69</Paragraphs>
  <Slides>10</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10</vt:i4>
      </vt:variant>
    </vt:vector>
  </HeadingPairs>
  <TitlesOfParts>
    <vt:vector size="20" baseType="lpstr">
      <vt:lpstr>-webkit-standard</vt:lpstr>
      <vt:lpstr>Aptos</vt:lpstr>
      <vt:lpstr>Aptos Display</vt:lpstr>
      <vt:lpstr>Arial</vt:lpstr>
      <vt:lpstr>Arimo</vt:lpstr>
      <vt:lpstr>Arimo Bold</vt:lpstr>
      <vt:lpstr>Gill Sans MT</vt:lpstr>
      <vt:lpstr>Google Sans Text</vt:lpstr>
      <vt:lpstr>Office Theme</vt:lpstr>
      <vt:lpstr>Gallery</vt:lpstr>
      <vt:lpstr> Optimizing E-Commerce Operations in Türkiye </vt:lpstr>
      <vt:lpstr>PowerPoint Presentation</vt:lpstr>
      <vt:lpstr>PowerPoint Presentation</vt:lpstr>
      <vt:lpstr>Does the Session Duration correlate with the Total Amount  spent and how does this relationship vary by Device Type?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Microsoft Office User</cp:lastModifiedBy>
  <cp:revision>8</cp:revision>
  <dcterms:created xsi:type="dcterms:W3CDTF">2025-11-30T18:30:26Z</dcterms:created>
  <dcterms:modified xsi:type="dcterms:W3CDTF">2025-11-30T19:20:04Z</dcterms:modified>
</cp:coreProperties>
</file>